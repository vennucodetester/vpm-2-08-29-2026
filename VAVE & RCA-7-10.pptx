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2" r:id="rId6"/>
    <p:sldId id="259" r:id="rId7"/>
    <p:sldId id="264" r:id="rId8"/>
    <p:sldId id="266" r:id="rId9"/>
    <p:sldId id="272" r:id="rId10"/>
    <p:sldId id="273" r:id="rId11"/>
    <p:sldId id="27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11E4F-3640-43D3-BC1C-4A0E39CBE4D6}" v="3" dt="2026-07-10T05:55:12.943"/>
    <p1510:client id="{83BD5090-150E-28DE-BD8C-D81B5E5AF68D}" v="27" dt="2026-07-10T02:58:45.377"/>
    <p1510:client id="{AC865A74-C599-4D4B-BF53-374F83B6A840}" v="4" dt="2026-07-10T03:25:01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5E6E4-687C-4113-84DA-7718C93E8E39}" type="datetimeFigureOut"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84707-406B-4421-949A-63193AB726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5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VAVE-DG 2.0 workbook and latest user-provided screenshots. Level 2 and Level 3 headings retained as slide headlines/rows.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VAVE-DG 2.0 workbook and latest user-provided screenshots. Level 2 and Level 3 headings retained as slide headlines/rows.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VAVE-DG 2.0 workbook Summary tab. Circled duplicate open-activity section removed and replaced with all-model realized savings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87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7406640" cy="27432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Cassette VAVE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11365992" cy="329184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68327"/>
            <a:ext cx="1738425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ptos"/>
              </a:rPr>
              <a:t>Cassette VAVE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996696"/>
            <a:ext cx="1737360" cy="13716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Aptos"/>
              </a:rPr>
              <a:t>Total: $257.76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532120" cy="274320"/>
          </a:xfrm>
          <a:prstGeom prst="rect">
            <a:avLst/>
          </a:prstGeom>
          <a:solidFill>
            <a:srgbClr val="E8EF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0" name="TextBox 9"/>
          <p:cNvSpPr txBox="1"/>
          <p:nvPr/>
        </p:nvSpPr>
        <p:spPr>
          <a:xfrm>
            <a:off x="612648" y="1541499"/>
            <a:ext cx="67973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Task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5612" y="1541499"/>
            <a:ext cx="485774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4711" y="1541499"/>
            <a:ext cx="2597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7183" y="1541499"/>
            <a:ext cx="41524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65376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5" name="TextBox 14"/>
          <p:cNvSpPr txBox="1"/>
          <p:nvPr/>
        </p:nvSpPr>
        <p:spPr>
          <a:xfrm>
            <a:off x="612648" y="2094712"/>
            <a:ext cx="123117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CAP Tube testing - 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1335" y="2021560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$28.00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3484" y="2021560"/>
            <a:ext cx="53707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9/4/2026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9900" y="2002536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9" name="TextBox 18"/>
          <p:cNvSpPr txBox="1"/>
          <p:nvPr/>
        </p:nvSpPr>
        <p:spPr>
          <a:xfrm>
            <a:off x="5216702" y="2016988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32888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1" name="TextBox 20"/>
          <p:cNvSpPr txBox="1"/>
          <p:nvPr/>
        </p:nvSpPr>
        <p:spPr>
          <a:xfrm>
            <a:off x="612648" y="2762224"/>
            <a:ext cx="11798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Check valve removal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0263" y="2689072"/>
            <a:ext cx="351123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$5.00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9020" y="2689072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8/21/2026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49900" y="2670048"/>
            <a:ext cx="822960" cy="256032"/>
          </a:xfrm>
          <a:prstGeom prst="roundRect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TextBox 24"/>
          <p:cNvSpPr txBox="1"/>
          <p:nvPr/>
        </p:nvSpPr>
        <p:spPr>
          <a:xfrm>
            <a:off x="5208688" y="2684500"/>
            <a:ext cx="70538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00400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7" name="TextBox 26"/>
          <p:cNvSpPr txBox="1"/>
          <p:nvPr/>
        </p:nvSpPr>
        <p:spPr>
          <a:xfrm>
            <a:off x="612648" y="3429736"/>
            <a:ext cx="251036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S/M - 1 (Removing parts/clamps from design)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0263" y="3356584"/>
            <a:ext cx="351123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$7.50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3484" y="3356584"/>
            <a:ext cx="53707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8/3/2026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9900" y="3337560"/>
            <a:ext cx="822960" cy="256032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1" name="TextBox 30"/>
          <p:cNvSpPr txBox="1"/>
          <p:nvPr/>
        </p:nvSpPr>
        <p:spPr>
          <a:xfrm>
            <a:off x="5215901" y="3352012"/>
            <a:ext cx="690959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Completed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867912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612648" y="4020304"/>
            <a:ext cx="2414187" cy="31701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 dirty="0">
                <a:solidFill>
                  <a:srgbClr val="202020"/>
                </a:solidFill>
                <a:latin typeface="Aptos"/>
              </a:rPr>
              <a:t>S/m - 2 (Control box redesign, </a:t>
            </a:r>
            <a:r>
              <a:rPr sz="1000" b="0" i="0" dirty="0" err="1">
                <a:solidFill>
                  <a:srgbClr val="202020"/>
                </a:solidFill>
                <a:latin typeface="Aptos"/>
              </a:rPr>
              <a:t>evap</a:t>
            </a:r>
            <a:r>
              <a:rPr sz="1000" b="0" i="0" dirty="0">
                <a:solidFill>
                  <a:srgbClr val="202020"/>
                </a:solidFill>
                <a:latin typeface="Aptos"/>
              </a:rPr>
              <a:t> shroud,</a:t>
            </a:r>
            <a:endParaRPr lang="en-US" sz="1000" b="0" i="0" dirty="0">
              <a:solidFill>
                <a:srgbClr val="202020"/>
              </a:solidFill>
              <a:latin typeface="Aptos"/>
            </a:endParaRPr>
          </a:p>
          <a:p>
            <a:pPr algn="l"/>
            <a:r>
              <a:rPr sz="1000" b="0" i="0" dirty="0">
                <a:solidFill>
                  <a:srgbClr val="202020"/>
                </a:solidFill>
                <a:latin typeface="Aptos"/>
              </a:rPr>
              <a:t> compress base, cond. shroud)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1335" y="4024096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$30.00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9020" y="4024096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10/7/2026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49900" y="4005072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7" name="TextBox 36"/>
          <p:cNvSpPr txBox="1"/>
          <p:nvPr/>
        </p:nvSpPr>
        <p:spPr>
          <a:xfrm>
            <a:off x="5216702" y="4019524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35424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9" name="TextBox 38"/>
          <p:cNvSpPr txBox="1"/>
          <p:nvPr/>
        </p:nvSpPr>
        <p:spPr>
          <a:xfrm>
            <a:off x="612648" y="4764760"/>
            <a:ext cx="275883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New enclosure for 2.0 (Molded foam/ Sm/ gasket)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1335" y="4691608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$27.00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4555" y="4691608"/>
            <a:ext cx="674929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10/30/2026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49900" y="4672584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3" name="TextBox 42"/>
          <p:cNvSpPr txBox="1"/>
          <p:nvPr/>
        </p:nvSpPr>
        <p:spPr>
          <a:xfrm>
            <a:off x="5216702" y="4687036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202936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5" name="TextBox 44"/>
          <p:cNvSpPr txBox="1"/>
          <p:nvPr/>
        </p:nvSpPr>
        <p:spPr>
          <a:xfrm>
            <a:off x="612648" y="5432272"/>
            <a:ext cx="83683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Aluminum coil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1335" y="5359120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$30.00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3484" y="5359120"/>
            <a:ext cx="53707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2/1/2027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49900" y="5340096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9" name="TextBox 48"/>
          <p:cNvSpPr txBox="1"/>
          <p:nvPr/>
        </p:nvSpPr>
        <p:spPr>
          <a:xfrm>
            <a:off x="5216702" y="5354548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870448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1" name="TextBox 50"/>
          <p:cNvSpPr txBox="1"/>
          <p:nvPr/>
        </p:nvSpPr>
        <p:spPr>
          <a:xfrm>
            <a:off x="612648" y="6099784"/>
            <a:ext cx="1409104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Cheaper Carel controller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1335" y="6026632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$15.00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29020" y="6026632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9/16/2026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49900" y="6007608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5" name="TextBox 54"/>
          <p:cNvSpPr txBox="1"/>
          <p:nvPr/>
        </p:nvSpPr>
        <p:spPr>
          <a:xfrm>
            <a:off x="5216702" y="6022060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1508760"/>
            <a:ext cx="5532120" cy="274320"/>
          </a:xfrm>
          <a:prstGeom prst="rect">
            <a:avLst/>
          </a:prstGeom>
          <a:solidFill>
            <a:srgbClr val="E8EF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7" name="TextBox 56"/>
          <p:cNvSpPr txBox="1"/>
          <p:nvPr/>
        </p:nvSpPr>
        <p:spPr>
          <a:xfrm>
            <a:off x="6373368" y="1541499"/>
            <a:ext cx="67973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Task Name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6332" y="1541499"/>
            <a:ext cx="485774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Savings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5432" y="1541499"/>
            <a:ext cx="2597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77903" y="1541499"/>
            <a:ext cx="41524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Status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1865376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2" name="TextBox 61"/>
          <p:cNvSpPr txBox="1"/>
          <p:nvPr/>
        </p:nvSpPr>
        <p:spPr>
          <a:xfrm>
            <a:off x="6373368" y="2094712"/>
            <a:ext cx="95705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Tube on drip tray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0983" y="2021560"/>
            <a:ext cx="351123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$0.00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9741" y="2021560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7/24/2026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10620" y="2002536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6" name="TextBox 65"/>
          <p:cNvSpPr txBox="1"/>
          <p:nvPr/>
        </p:nvSpPr>
        <p:spPr>
          <a:xfrm>
            <a:off x="10977422" y="2016988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2532888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8" name="TextBox 67"/>
          <p:cNvSpPr txBox="1"/>
          <p:nvPr/>
        </p:nvSpPr>
        <p:spPr>
          <a:xfrm>
            <a:off x="6373368" y="2762224"/>
            <a:ext cx="89454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Harness design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72055" y="2689072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$20.00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89741" y="2689072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9/17/2026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10620" y="2670048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2" name="TextBox 71"/>
          <p:cNvSpPr txBox="1"/>
          <p:nvPr/>
        </p:nvSpPr>
        <p:spPr>
          <a:xfrm>
            <a:off x="10977422" y="2684500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3200400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4" name="TextBox 73"/>
          <p:cNvSpPr txBox="1"/>
          <p:nvPr/>
        </p:nvSpPr>
        <p:spPr>
          <a:xfrm>
            <a:off x="6373368" y="3429736"/>
            <a:ext cx="155177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Evap/ Condenser fan - 3 qty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72055" y="3356584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$42.00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89741" y="3356584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8/28/2026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10620" y="3337560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8" name="TextBox 77"/>
          <p:cNvSpPr txBox="1"/>
          <p:nvPr/>
        </p:nvSpPr>
        <p:spPr>
          <a:xfrm>
            <a:off x="10977422" y="3352012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3867912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0" name="TextBox 79"/>
          <p:cNvSpPr txBox="1"/>
          <p:nvPr/>
        </p:nvSpPr>
        <p:spPr>
          <a:xfrm>
            <a:off x="6373368" y="4097248"/>
            <a:ext cx="144757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Pallet - CArdboard design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72055" y="4024096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$10.00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9741" y="4024096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9/28/2026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910620" y="4005072"/>
            <a:ext cx="822960" cy="256032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4" name="TextBox 83"/>
          <p:cNvSpPr txBox="1"/>
          <p:nvPr/>
        </p:nvSpPr>
        <p:spPr>
          <a:xfrm>
            <a:off x="10977422" y="4019524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63640" y="4535424"/>
            <a:ext cx="5532120" cy="585216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6" name="TextBox 85"/>
          <p:cNvSpPr txBox="1"/>
          <p:nvPr/>
        </p:nvSpPr>
        <p:spPr>
          <a:xfrm>
            <a:off x="6373368" y="4764760"/>
            <a:ext cx="57394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Tariff - MT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72055" y="4691608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$43.26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89741" y="4691608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6/15/2026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10620" y="4672584"/>
            <a:ext cx="822960" cy="256032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0" name="TextBox 89"/>
          <p:cNvSpPr txBox="1"/>
          <p:nvPr/>
        </p:nvSpPr>
        <p:spPr>
          <a:xfrm>
            <a:off x="11015894" y="4687036"/>
            <a:ext cx="61241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REALIZED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63640" y="5202936"/>
            <a:ext cx="5532120" cy="5852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2" name="TextBox 91"/>
          <p:cNvSpPr txBox="1"/>
          <p:nvPr/>
        </p:nvSpPr>
        <p:spPr>
          <a:xfrm>
            <a:off x="6373368" y="5432272"/>
            <a:ext cx="53707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Tariff - LT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72055" y="5359120"/>
            <a:ext cx="42005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$44.59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89741" y="5359120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6/15/2026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910620" y="5340096"/>
            <a:ext cx="822960" cy="256032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96" name="TextBox 95"/>
          <p:cNvSpPr txBox="1"/>
          <p:nvPr/>
        </p:nvSpPr>
        <p:spPr>
          <a:xfrm>
            <a:off x="11015894" y="5354548"/>
            <a:ext cx="61241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REALIZED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7406640" cy="27432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Case VAVE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11365992" cy="329184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996696"/>
            <a:ext cx="4754880" cy="13716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950" b="1" i="0" dirty="0">
                <a:solidFill>
                  <a:srgbClr val="FFFFFF"/>
                </a:solidFill>
                <a:latin typeface="Aptos"/>
              </a:rPr>
              <a:t>Case VAVE 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996696"/>
            <a:ext cx="1737360" cy="13716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950" b="1" i="0">
                <a:solidFill>
                  <a:srgbClr val="FFFFFF"/>
                </a:solidFill>
                <a:latin typeface="Aptos"/>
              </a:rPr>
              <a:t>Total: $78.29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10972800" cy="329184"/>
          </a:xfrm>
          <a:prstGeom prst="rect">
            <a:avLst/>
          </a:prstGeom>
          <a:solidFill>
            <a:srgbClr val="E8EFF7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546072"/>
            <a:ext cx="67973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 dirty="0">
                <a:solidFill>
                  <a:srgbClr val="202020"/>
                </a:solidFill>
                <a:latin typeface="Aptos"/>
              </a:rPr>
              <a:t>Task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3666" y="1546071"/>
            <a:ext cx="485774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8472" y="1546071"/>
            <a:ext cx="56271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End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8715" y="1546071"/>
            <a:ext cx="41524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02020"/>
                </a:solidFill>
                <a:latin typeface="Apto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920240"/>
            <a:ext cx="1097280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030703"/>
            <a:ext cx="1027589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 dirty="0">
                <a:solidFill>
                  <a:srgbClr val="202020"/>
                </a:solidFill>
                <a:latin typeface="Aptos"/>
              </a:rPr>
              <a:t>Plastic Deck Pans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9390" y="2030703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$26.65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6831" y="2030703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9/18/2026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42248" y="2011680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9" name="TextBox 18"/>
          <p:cNvSpPr txBox="1"/>
          <p:nvPr/>
        </p:nvSpPr>
        <p:spPr>
          <a:xfrm>
            <a:off x="9206230" y="2035275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505456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2615919"/>
            <a:ext cx="10067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Simplify Raceway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318" y="2615919"/>
            <a:ext cx="3511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$3.07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1296" y="2615919"/>
            <a:ext cx="53707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8/7/2026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2248" y="2596896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5" name="TextBox 24"/>
          <p:cNvSpPr txBox="1"/>
          <p:nvPr/>
        </p:nvSpPr>
        <p:spPr>
          <a:xfrm>
            <a:off x="9206230" y="2620491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090672"/>
            <a:ext cx="1097280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3201135"/>
            <a:ext cx="97469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Case power 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318" y="3201135"/>
            <a:ext cx="3511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$5.49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1296" y="3201135"/>
            <a:ext cx="53707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9/1/2026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42248" y="3182112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1" name="TextBox 30"/>
          <p:cNvSpPr txBox="1"/>
          <p:nvPr/>
        </p:nvSpPr>
        <p:spPr>
          <a:xfrm>
            <a:off x="9206230" y="3205707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3675888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3786351"/>
            <a:ext cx="88652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10Amp Breaker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9390" y="3786351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$32.56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6831" y="3786351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8/11/2026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42248" y="3767328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7" name="TextBox 36"/>
          <p:cNvSpPr txBox="1"/>
          <p:nvPr/>
        </p:nvSpPr>
        <p:spPr>
          <a:xfrm>
            <a:off x="9206230" y="3790923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261104"/>
            <a:ext cx="1097280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" y="4371567"/>
            <a:ext cx="161428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Simplify Under Door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8318" y="4371567"/>
            <a:ext cx="3511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$1.48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31296" y="4371567"/>
            <a:ext cx="53707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8/7/2026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2248" y="4352544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3" name="TextBox 42"/>
          <p:cNvSpPr txBox="1"/>
          <p:nvPr/>
        </p:nvSpPr>
        <p:spPr>
          <a:xfrm>
            <a:off x="9206230" y="4376139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4846320"/>
            <a:ext cx="10972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" y="4956783"/>
            <a:ext cx="208396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Reduce Qty of Canopy Foam Backers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98318" y="4956783"/>
            <a:ext cx="3511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$5.27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31296" y="4956783"/>
            <a:ext cx="53707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8/7/2026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42248" y="4937759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9" name="TextBox 48"/>
          <p:cNvSpPr txBox="1"/>
          <p:nvPr/>
        </p:nvSpPr>
        <p:spPr>
          <a:xfrm>
            <a:off x="9206230" y="4961355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5431536"/>
            <a:ext cx="1097280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8952" y="5541999"/>
            <a:ext cx="81278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0" i="0">
                <a:solidFill>
                  <a:srgbClr val="202020"/>
                </a:solidFill>
                <a:latin typeface="Aptos"/>
              </a:rPr>
              <a:t>Remove Drain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98318" y="5541999"/>
            <a:ext cx="3511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r"/>
            <a:r>
              <a:rPr sz="1000" b="1" i="0">
                <a:solidFill>
                  <a:srgbClr val="202020"/>
                </a:solidFill>
                <a:latin typeface="Aptos"/>
              </a:rPr>
              <a:t>$3.77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6831" y="5541999"/>
            <a:ext cx="60600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8/12/2026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42248" y="5522975"/>
            <a:ext cx="1417320" cy="28346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5" name="TextBox 54"/>
          <p:cNvSpPr txBox="1"/>
          <p:nvPr/>
        </p:nvSpPr>
        <p:spPr>
          <a:xfrm>
            <a:off x="9206230" y="5546571"/>
            <a:ext cx="68935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7406640" cy="27432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VAVE Savings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11567160" cy="502920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TextBox 4"/>
          <p:cNvSpPr txBox="1"/>
          <p:nvPr/>
        </p:nvSpPr>
        <p:spPr>
          <a:xfrm>
            <a:off x="393192" y="1146635"/>
            <a:ext cx="953851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Case /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475" y="1146635"/>
            <a:ext cx="667490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8624" y="1146635"/>
            <a:ext cx="635751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5615" y="1146635"/>
            <a:ext cx="782329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Remaining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8233" y="1146635"/>
            <a:ext cx="797654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% Realized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655799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RMN5MA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2531" y="1655799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$597.50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6475" y="1655799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$86.52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091" y="1655799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$510.98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664208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14.5%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84248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131287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RMN4MA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531" y="2131287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$594.10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6475" y="2131287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$86.52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091" y="2131287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$507.58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139696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14.6%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606775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RMN3MA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2531" y="2606775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$590.70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6475" y="2606775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$86.52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3091" y="2606775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$504.18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615184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14.6%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35224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082263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 dirty="0">
                <a:solidFill>
                  <a:srgbClr val="202020"/>
                </a:solidFill>
                <a:latin typeface="Aptos"/>
              </a:rPr>
              <a:t>RMN2MA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2531" y="3082263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$322.50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6475" y="3082263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$43.26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3091" y="3082263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$279.24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090672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13.4%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10712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557751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RLN5MA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2531" y="3557751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$859.30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42010" y="3557751"/>
            <a:ext cx="48898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$133.77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3091" y="3557751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$725.53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566160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15.6%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86200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4033239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RLN4MA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2531" y="4033239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$596.80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76475" y="4033239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$89.18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3091" y="4033239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$507.62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041648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14.9%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361688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4508727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RLN3MA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2531" y="4508727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$593.40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76475" y="4508727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$89.18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3091" y="4508727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$504.22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517136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15.0%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837175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4984214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RLN2MA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02531" y="4984214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$323.90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76475" y="4984214"/>
            <a:ext cx="420050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Aptos"/>
              </a:rPr>
              <a:t>$44.59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83091" y="4984214"/>
            <a:ext cx="487378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$279.31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992623"/>
            <a:ext cx="214884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819" b="1" i="0">
                <a:solidFill>
                  <a:srgbClr val="202020"/>
                </a:solidFill>
                <a:latin typeface="Aptos"/>
              </a:rPr>
              <a:t>13.8%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217920"/>
            <a:ext cx="731520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730" b="0" i="1">
                <a:solidFill>
                  <a:srgbClr val="595959"/>
                </a:solidFill>
                <a:latin typeface="Aptos"/>
              </a:rPr>
              <a:t>Updated values based on latest VAVE calculations. Total row intentionally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7406640" cy="274320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 Display"/>
              </a:rPr>
              <a:t>Case + MB Cost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11567160" cy="502920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" name="TextBox 4"/>
          <p:cNvSpPr txBox="1"/>
          <p:nvPr/>
        </p:nvSpPr>
        <p:spPr>
          <a:xfrm>
            <a:off x="393192" y="1146635"/>
            <a:ext cx="953851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Case /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623" y="1146635"/>
            <a:ext cx="1781193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Case + MB Cost - Current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7900" y="1146635"/>
            <a:ext cx="1717200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Case + MB Cost - Aug,26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6507" y="1146635"/>
            <a:ext cx="1760546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Case + MB Cost - Dec,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3846" y="1146635"/>
            <a:ext cx="1706428" cy="193899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Case + MB Cost - Feb,28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655799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RMN5MA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632" y="165579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$6,738.09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912" y="165579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$6,626.75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0192" y="165579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$6,204.28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0472" y="165579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$6,144.28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84248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502920" y="2131287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RMN4MA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632" y="213128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$6,335.50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912" y="213128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$6,224.16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0192" y="213128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$5,801.69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0472" y="213128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$5,741.69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3" name="TextBox 22"/>
          <p:cNvSpPr txBox="1"/>
          <p:nvPr/>
        </p:nvSpPr>
        <p:spPr>
          <a:xfrm>
            <a:off x="502920" y="2606775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RMN3MA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632" y="2606775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$5,935.16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912" y="2606775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$5,823.82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0192" y="2606775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$5,401.35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70472" y="2606775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$5,341.35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35224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9" name="TextBox 28"/>
          <p:cNvSpPr txBox="1"/>
          <p:nvPr/>
        </p:nvSpPr>
        <p:spPr>
          <a:xfrm>
            <a:off x="502920" y="3082263"/>
            <a:ext cx="572336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RMN2MA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632" y="3082263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$3,927.53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912" y="3082263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$3,866.95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0192" y="3082263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$3,621.48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0472" y="3082263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$3,591.48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10712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5" name="TextBox 34"/>
          <p:cNvSpPr txBox="1"/>
          <p:nvPr/>
        </p:nvSpPr>
        <p:spPr>
          <a:xfrm>
            <a:off x="502920" y="3557751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RLN5MA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632" y="3557751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$8,698.13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912" y="3557751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$8,532.04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0192" y="3557751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$7,932.57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0472" y="3557751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$7,842.57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86200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1" name="TextBox 40"/>
          <p:cNvSpPr txBox="1"/>
          <p:nvPr/>
        </p:nvSpPr>
        <p:spPr>
          <a:xfrm>
            <a:off x="502920" y="4033239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RLN4MA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632" y="403323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$6,667.58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912" y="403323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$6,553.58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0192" y="403323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$6,131.11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0472" y="4033239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$6,071.11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361688"/>
            <a:ext cx="11567160" cy="475488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7" name="TextBox 46"/>
          <p:cNvSpPr txBox="1"/>
          <p:nvPr/>
        </p:nvSpPr>
        <p:spPr>
          <a:xfrm>
            <a:off x="502920" y="4508727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RLN3MA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632" y="450872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$6,198.86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912" y="450872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$6,084.86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0192" y="450872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$5,662.39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0472" y="4508727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$5,602.39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837175"/>
            <a:ext cx="11567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53" name="TextBox 52"/>
          <p:cNvSpPr txBox="1"/>
          <p:nvPr/>
        </p:nvSpPr>
        <p:spPr>
          <a:xfrm>
            <a:off x="502920" y="4984214"/>
            <a:ext cx="53226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  <a:latin typeface="Aptos"/>
              </a:rPr>
              <a:t>RLN2MA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632" y="4984214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$4,123.70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912" y="4984214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$4,061.79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0192" y="4984214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$3,816.32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0472" y="4984214"/>
            <a:ext cx="593175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Aptos"/>
              </a:rPr>
              <a:t>$3,786.32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217920"/>
            <a:ext cx="7315200" cy="146304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730" b="0" i="1">
                <a:solidFill>
                  <a:srgbClr val="595959"/>
                </a:solidFill>
                <a:latin typeface="Aptos"/>
              </a:rPr>
              <a:t>Updated values based on latest VAVE calculations. Total row intentionally removed.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1" y="159878"/>
            <a:ext cx="5600000" cy="2565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Dispatch data per store installation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512064"/>
            <a:ext cx="4500000" cy="284803"/>
          </a:xfrm>
          <a:prstGeom prst="rect">
            <a:avLst/>
          </a:prstGeom>
          <a:solidFill>
            <a:srgbClr val="DDEBF7"/>
          </a:solidFill>
          <a:ln w="1016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550289"/>
            <a:ext cx="973023" cy="1260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19" b="1" dirty="0">
                <a:solidFill>
                  <a:srgbClr val="1F4E79"/>
                </a:solidFill>
                <a:latin typeface="Arial"/>
              </a:rPr>
              <a:t>All issues included 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42415" y="5065776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0415" y="5010281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2415" y="4283049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0415" y="4227554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2415" y="3500322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0415" y="3444827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2415" y="2717596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0415" y="2662101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15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5" y="1934869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0415" y="1879374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42415" y="1152143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90415" y="1096648"/>
            <a:ext cx="110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2415" y="1152143"/>
            <a:ext cx="0" cy="3913633"/>
          </a:xfrm>
          <a:prstGeom prst="line">
            <a:avLst/>
          </a:prstGeom>
          <a:ln w="1524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2415" y="5065776"/>
            <a:ext cx="7845552" cy="0"/>
          </a:xfrm>
          <a:prstGeom prst="line">
            <a:avLst/>
          </a:prstGeom>
          <a:ln w="1524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 rot="16200000">
            <a:off x="210310" y="3165552"/>
            <a:ext cx="769441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Arial"/>
              </a:rPr>
              <a:t>Total Dispatches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414" y="5379070"/>
            <a:ext cx="1043555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Arial"/>
              </a:rPr>
              <a:t>Store installation week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5229" y="4909230"/>
            <a:ext cx="270235" cy="15654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25229" y="4752685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25229" y="4596140"/>
            <a:ext cx="270235" cy="15654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25229" y="4439594"/>
            <a:ext cx="270235" cy="156545"/>
          </a:xfrm>
          <a:prstGeom prst="rect">
            <a:avLst/>
          </a:prstGeom>
          <a:solidFill>
            <a:srgbClr val="8D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25229" y="4283049"/>
            <a:ext cx="270235" cy="156545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25229" y="4126504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0229" y="400787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211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3/2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61093" y="4596140"/>
            <a:ext cx="270235" cy="46963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561093" y="4439594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561093" y="4126504"/>
            <a:ext cx="270235" cy="31309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561093" y="3813413"/>
            <a:ext cx="270235" cy="31309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561093" y="3656868"/>
            <a:ext cx="270235" cy="15654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536093" y="3538235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4075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3/9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96957" y="4596140"/>
            <a:ext cx="270235" cy="469635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996957" y="3969958"/>
            <a:ext cx="270235" cy="626181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996957" y="3813413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996957" y="3500322"/>
            <a:ext cx="270235" cy="31309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996957" y="3343777"/>
            <a:ext cx="270235" cy="15654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996957" y="2717596"/>
            <a:ext cx="270235" cy="626181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996957" y="2404505"/>
            <a:ext cx="270235" cy="31309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996957" y="2247960"/>
            <a:ext cx="270235" cy="156545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996957" y="2091414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996957" y="1934869"/>
            <a:ext cx="270235" cy="15654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996957" y="1778324"/>
            <a:ext cx="270235" cy="156545"/>
          </a:xfrm>
          <a:prstGeom prst="rect">
            <a:avLst/>
          </a:prstGeom>
          <a:solidFill>
            <a:srgbClr val="BEB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996957" y="1621778"/>
            <a:ext cx="270235" cy="156545"/>
          </a:xfrm>
          <a:prstGeom prst="rect">
            <a:avLst/>
          </a:prstGeom>
          <a:solidFill>
            <a:srgbClr val="FDB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996957" y="1465233"/>
            <a:ext cx="270235" cy="1565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996957" y="1308688"/>
            <a:ext cx="270235" cy="15654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71957" y="1190055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31085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3/16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32821" y="4752685"/>
            <a:ext cx="270235" cy="31309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432821" y="4596140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432821" y="4126504"/>
            <a:ext cx="270235" cy="46963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432821" y="3656868"/>
            <a:ext cx="270235" cy="46963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432821" y="3187232"/>
            <a:ext cx="270235" cy="46963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432821" y="3030686"/>
            <a:ext cx="270235" cy="15654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432821" y="2874141"/>
            <a:ext cx="270235" cy="15654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432821" y="2717596"/>
            <a:ext cx="270235" cy="156545"/>
          </a:xfrm>
          <a:prstGeom prst="rect">
            <a:avLst/>
          </a:prstGeom>
          <a:solidFill>
            <a:srgbClr val="B3D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32821" y="2561050"/>
            <a:ext cx="270235" cy="156545"/>
          </a:xfrm>
          <a:prstGeom prst="rect">
            <a:avLst/>
          </a:prstGeom>
          <a:solidFill>
            <a:srgbClr val="BC8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07821" y="2442417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6949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3/23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68685" y="4909230"/>
            <a:ext cx="270235" cy="15654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868685" y="4439594"/>
            <a:ext cx="270235" cy="469635"/>
          </a:xfrm>
          <a:prstGeom prst="rect">
            <a:avLst/>
          </a:prstGeom>
          <a:solidFill>
            <a:srgbClr val="8D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843685" y="432096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02813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3/30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04549" y="4283049"/>
            <a:ext cx="270235" cy="782726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304549" y="3969958"/>
            <a:ext cx="270235" cy="31309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304549" y="3813413"/>
            <a:ext cx="270235" cy="15654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304549" y="3500322"/>
            <a:ext cx="270235" cy="313090"/>
          </a:xfrm>
          <a:prstGeom prst="rect">
            <a:avLst/>
          </a:prstGeom>
          <a:solidFill>
            <a:srgbClr val="00A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304549" y="3343777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304549" y="3187232"/>
            <a:ext cx="270235" cy="156545"/>
          </a:xfrm>
          <a:prstGeom prst="rect">
            <a:avLst/>
          </a:prstGeom>
          <a:solidFill>
            <a:srgbClr val="BC8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304549" y="3030686"/>
            <a:ext cx="270235" cy="15654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79549" y="2912053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67531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4/6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40413" y="4909230"/>
            <a:ext cx="270235" cy="156545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3740413" y="4752685"/>
            <a:ext cx="270235" cy="15654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740413" y="4596140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740413" y="3813413"/>
            <a:ext cx="270235" cy="78272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740413" y="3656868"/>
            <a:ext cx="270235" cy="156545"/>
          </a:xfrm>
          <a:prstGeom prst="rect">
            <a:avLst/>
          </a:prstGeom>
          <a:solidFill>
            <a:srgbClr val="8D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740413" y="3500322"/>
            <a:ext cx="270235" cy="156545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740413" y="3343777"/>
            <a:ext cx="270235" cy="15654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740413" y="3030686"/>
            <a:ext cx="270235" cy="313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740413" y="2717596"/>
            <a:ext cx="270235" cy="313090"/>
          </a:xfrm>
          <a:prstGeom prst="rect">
            <a:avLst/>
          </a:prstGeom>
          <a:solidFill>
            <a:srgbClr val="BC8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740413" y="2247960"/>
            <a:ext cx="270235" cy="4696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715413" y="2129327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74541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4/13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76277" y="4909230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176277" y="4752685"/>
            <a:ext cx="270235" cy="1565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176277" y="4439594"/>
            <a:ext cx="270235" cy="31309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176277" y="4283049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176277" y="4126504"/>
            <a:ext cx="270235" cy="156545"/>
          </a:xfrm>
          <a:prstGeom prst="rect">
            <a:avLst/>
          </a:prstGeom>
          <a:solidFill>
            <a:srgbClr val="80B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151277" y="400787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10405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4/20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12141" y="4909230"/>
            <a:ext cx="270235" cy="15654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612141" y="4752685"/>
            <a:ext cx="270235" cy="156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4612141" y="4596140"/>
            <a:ext cx="270235" cy="15654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612141" y="4283049"/>
            <a:ext cx="270235" cy="313090"/>
          </a:xfrm>
          <a:prstGeom prst="rect">
            <a:avLst/>
          </a:prstGeom>
          <a:solidFill>
            <a:srgbClr val="8D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612141" y="4126504"/>
            <a:ext cx="270235" cy="156545"/>
          </a:xfrm>
          <a:prstGeom prst="rect">
            <a:avLst/>
          </a:prstGeom>
          <a:solidFill>
            <a:srgbClr val="FB8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587141" y="400787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46269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4/27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48005" y="4909230"/>
            <a:ext cx="270235" cy="15654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5048005" y="4596140"/>
            <a:ext cx="270235" cy="3130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5048005" y="4283049"/>
            <a:ext cx="270235" cy="31309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048005" y="4126504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5048005" y="3969958"/>
            <a:ext cx="270235" cy="156545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023005" y="3851325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10987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5/4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483869" y="4909230"/>
            <a:ext cx="270235" cy="15654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483869" y="4752685"/>
            <a:ext cx="270235" cy="156545"/>
          </a:xfrm>
          <a:prstGeom prst="rect">
            <a:avLst/>
          </a:prstGeom>
          <a:solidFill>
            <a:srgbClr val="8D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458869" y="4634052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17997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5/11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19733" y="4909230"/>
            <a:ext cx="270235" cy="156545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5919733" y="4596140"/>
            <a:ext cx="270235" cy="31309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5919733" y="4283049"/>
            <a:ext cx="270235" cy="313090"/>
          </a:xfrm>
          <a:prstGeom prst="rect">
            <a:avLst/>
          </a:prstGeom>
          <a:solidFill>
            <a:srgbClr val="BC80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894733" y="4164416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53861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5/18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597" y="4752685"/>
            <a:ext cx="270235" cy="31309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355597" y="4596140"/>
            <a:ext cx="270235" cy="156545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355597" y="4439594"/>
            <a:ext cx="270235" cy="15654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330597" y="432096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389725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5/25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791461" y="4752685"/>
            <a:ext cx="270235" cy="313090"/>
          </a:xfrm>
          <a:prstGeom prst="rect">
            <a:avLst/>
          </a:prstGeom>
          <a:solidFill>
            <a:srgbClr val="003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766461" y="4634052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4443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6/1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227325" y="4909230"/>
            <a:ext cx="270235" cy="15654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202325" y="4790597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290307" y="5095888"/>
            <a:ext cx="1442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6/8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663189" y="4752685"/>
            <a:ext cx="270235" cy="31309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7663189" y="4596140"/>
            <a:ext cx="270235" cy="156545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663189" y="4283049"/>
            <a:ext cx="270235" cy="313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663189" y="4126504"/>
            <a:ext cx="270235" cy="156545"/>
          </a:xfrm>
          <a:prstGeom prst="rect">
            <a:avLst/>
          </a:prstGeom>
          <a:solidFill>
            <a:srgbClr val="FB8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638189" y="400787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97317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6/15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99053" y="4909230"/>
            <a:ext cx="270235" cy="1565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074053" y="4790597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133181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6/22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534917" y="4909230"/>
            <a:ext cx="270235" cy="1565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534917" y="4752685"/>
            <a:ext cx="270235" cy="156545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8534917" y="4596140"/>
            <a:ext cx="270235" cy="15654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8534917" y="4439594"/>
            <a:ext cx="270235" cy="15654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8509917" y="4320961"/>
            <a:ext cx="320235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202020"/>
                </a:solidFill>
                <a:latin typeface="Arial"/>
              </a:rPr>
              <a:t>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569045" y="5095888"/>
            <a:ext cx="201978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6/29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34500" y="527003"/>
            <a:ext cx="8544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F4E79"/>
                </a:solidFill>
                <a:latin typeface="Arial"/>
              </a:rPr>
              <a:t>Root Cause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326880" y="830000"/>
            <a:ext cx="95000" cy="95000"/>
          </a:xfrm>
          <a:prstGeom prst="rect">
            <a:avLst/>
          </a:prstGeom>
          <a:solidFill>
            <a:srgbClr val="003F5C"/>
          </a:solidFill>
          <a:ln w="6350">
            <a:solidFill>
              <a:srgbClr val="00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47" name="TextBox 146"/>
          <p:cNvSpPr txBox="1"/>
          <p:nvPr/>
        </p:nvSpPr>
        <p:spPr>
          <a:xfrm>
            <a:off x="9461880" y="795445"/>
            <a:ext cx="102752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Ref. leak / Low charge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326880" y="1035000"/>
            <a:ext cx="95000" cy="9500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49" name="TextBox 148"/>
          <p:cNvSpPr txBox="1"/>
          <p:nvPr/>
        </p:nvSpPr>
        <p:spPr>
          <a:xfrm>
            <a:off x="9461880" y="1000445"/>
            <a:ext cx="57868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Door Torque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326880" y="1240000"/>
            <a:ext cx="95000" cy="95000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51" name="TextBox 150"/>
          <p:cNvSpPr txBox="1"/>
          <p:nvPr/>
        </p:nvSpPr>
        <p:spPr>
          <a:xfrm>
            <a:off x="9461880" y="1205445"/>
            <a:ext cx="86081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Drain tube blocked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326880" y="1445000"/>
            <a:ext cx="95000" cy="95000"/>
          </a:xfrm>
          <a:prstGeom prst="rect">
            <a:avLst/>
          </a:prstGeom>
          <a:solidFill>
            <a:srgbClr val="7030A0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53" name="TextBox 152"/>
          <p:cNvSpPr txBox="1"/>
          <p:nvPr/>
        </p:nvSpPr>
        <p:spPr>
          <a:xfrm>
            <a:off x="9461880" y="1410445"/>
            <a:ext cx="96821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Wrong / Loose wiring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326880" y="1650000"/>
            <a:ext cx="95000" cy="9500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55" name="TextBox 154"/>
          <p:cNvSpPr txBox="1"/>
          <p:nvPr/>
        </p:nvSpPr>
        <p:spPr>
          <a:xfrm>
            <a:off x="9461880" y="1615445"/>
            <a:ext cx="49212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Door issue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26880" y="1855000"/>
            <a:ext cx="95000" cy="9500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57" name="TextBox 156"/>
          <p:cNvSpPr txBox="1"/>
          <p:nvPr/>
        </p:nvSpPr>
        <p:spPr>
          <a:xfrm>
            <a:off x="9461880" y="1820445"/>
            <a:ext cx="142507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Comm line Installation Problem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326880" y="2060000"/>
            <a:ext cx="95000" cy="95000"/>
          </a:xfrm>
          <a:prstGeom prst="rect">
            <a:avLst/>
          </a:prstGeom>
          <a:solidFill>
            <a:srgbClr val="8DD3C7"/>
          </a:solidFill>
          <a:ln w="6350">
            <a:solidFill>
              <a:srgbClr val="8D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59" name="TextBox 158"/>
          <p:cNvSpPr txBox="1"/>
          <p:nvPr/>
        </p:nvSpPr>
        <p:spPr>
          <a:xfrm>
            <a:off x="9461880" y="2025445"/>
            <a:ext cx="66364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High Store RH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326880" y="2265000"/>
            <a:ext cx="95000" cy="95000"/>
          </a:xfrm>
          <a:prstGeom prst="rect">
            <a:avLst/>
          </a:prstGeom>
          <a:solidFill>
            <a:srgbClr val="A64D79"/>
          </a:solidFill>
          <a:ln w="6350">
            <a:solidFill>
              <a:srgbClr val="A64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1" name="TextBox 160"/>
          <p:cNvSpPr txBox="1"/>
          <p:nvPr/>
        </p:nvSpPr>
        <p:spPr>
          <a:xfrm>
            <a:off x="9461880" y="2230445"/>
            <a:ext cx="694101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Enclosure Seal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326880" y="2470000"/>
            <a:ext cx="95000" cy="95000"/>
          </a:xfrm>
          <a:prstGeom prst="rect">
            <a:avLst/>
          </a:prstGeom>
          <a:solidFill>
            <a:srgbClr val="548235"/>
          </a:solidFill>
          <a:ln w="63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3" name="TextBox 162"/>
          <p:cNvSpPr txBox="1"/>
          <p:nvPr/>
        </p:nvSpPr>
        <p:spPr>
          <a:xfrm>
            <a:off x="9461880" y="2435445"/>
            <a:ext cx="87684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Component Failure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326880" y="2675000"/>
            <a:ext cx="95000" cy="95000"/>
          </a:xfrm>
          <a:prstGeom prst="rect">
            <a:avLst/>
          </a:prstGeom>
          <a:solidFill>
            <a:srgbClr val="00A2E8"/>
          </a:solidFill>
          <a:ln w="6350">
            <a:solidFill>
              <a:srgbClr val="00A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5" name="TextBox 164"/>
          <p:cNvSpPr txBox="1"/>
          <p:nvPr/>
        </p:nvSpPr>
        <p:spPr>
          <a:xfrm>
            <a:off x="9461880" y="2640445"/>
            <a:ext cx="58990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Defrost Sync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326880" y="2880000"/>
            <a:ext cx="95000" cy="9500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7" name="TextBox 166"/>
          <p:cNvSpPr txBox="1"/>
          <p:nvPr/>
        </p:nvSpPr>
        <p:spPr>
          <a:xfrm>
            <a:off x="9461880" y="2845445"/>
            <a:ext cx="54822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False Alarm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326880" y="3085000"/>
            <a:ext cx="95000" cy="95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69" name="TextBox 168"/>
          <p:cNvSpPr txBox="1"/>
          <p:nvPr/>
        </p:nvSpPr>
        <p:spPr>
          <a:xfrm>
            <a:off x="9461880" y="3050445"/>
            <a:ext cx="82394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dirty="0">
                <a:solidFill>
                  <a:srgbClr val="202020"/>
                </a:solidFill>
                <a:latin typeface="Arial"/>
              </a:rPr>
              <a:t>Incorrect Program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326880" y="3290000"/>
            <a:ext cx="95000" cy="95000"/>
          </a:xfrm>
          <a:prstGeom prst="rect">
            <a:avLst/>
          </a:prstGeom>
          <a:solidFill>
            <a:srgbClr val="FB8072"/>
          </a:solidFill>
          <a:ln w="6350">
            <a:solidFill>
              <a:srgbClr val="FB8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71" name="TextBox 170"/>
          <p:cNvSpPr txBox="1"/>
          <p:nvPr/>
        </p:nvSpPr>
        <p:spPr>
          <a:xfrm>
            <a:off x="9461880" y="3255445"/>
            <a:ext cx="60112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Overstocking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326880" y="3495000"/>
            <a:ext cx="95000" cy="95000"/>
          </a:xfrm>
          <a:prstGeom prst="rect">
            <a:avLst/>
          </a:prstGeom>
          <a:solidFill>
            <a:srgbClr val="BEBADA"/>
          </a:solidFill>
          <a:ln w="6350">
            <a:solidFill>
              <a:srgbClr val="BEB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73" name="TextBox 172"/>
          <p:cNvSpPr txBox="1"/>
          <p:nvPr/>
        </p:nvSpPr>
        <p:spPr>
          <a:xfrm>
            <a:off x="9461880" y="3460445"/>
            <a:ext cx="689291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Case End Seal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326880" y="3700000"/>
            <a:ext cx="95000" cy="95000"/>
          </a:xfrm>
          <a:prstGeom prst="rect">
            <a:avLst/>
          </a:prstGeom>
          <a:solidFill>
            <a:srgbClr val="FDB462"/>
          </a:solidFill>
          <a:ln w="6350">
            <a:solidFill>
              <a:srgbClr val="FDB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75" name="TextBox 174"/>
          <p:cNvSpPr txBox="1"/>
          <p:nvPr/>
        </p:nvSpPr>
        <p:spPr>
          <a:xfrm>
            <a:off x="9461880" y="3665445"/>
            <a:ext cx="84798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Return Air blocked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326880" y="3905000"/>
            <a:ext cx="95000" cy="95000"/>
          </a:xfrm>
          <a:prstGeom prst="rect">
            <a:avLst/>
          </a:prstGeom>
          <a:solidFill>
            <a:srgbClr val="92D050"/>
          </a:solidFill>
          <a:ln w="635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77" name="TextBox 176"/>
          <p:cNvSpPr txBox="1"/>
          <p:nvPr/>
        </p:nvSpPr>
        <p:spPr>
          <a:xfrm>
            <a:off x="9461880" y="3870445"/>
            <a:ext cx="90569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Unidentified air leak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9326880" y="4110000"/>
            <a:ext cx="95000" cy="95000"/>
          </a:xfrm>
          <a:prstGeom prst="rect">
            <a:avLst/>
          </a:prstGeom>
          <a:solidFill>
            <a:srgbClr val="80B1D3"/>
          </a:solidFill>
          <a:ln w="6350">
            <a:solidFill>
              <a:srgbClr val="80B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79" name="TextBox 178"/>
          <p:cNvSpPr txBox="1"/>
          <p:nvPr/>
        </p:nvSpPr>
        <p:spPr>
          <a:xfrm>
            <a:off x="9461880" y="4075445"/>
            <a:ext cx="4119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Freedom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326880" y="4315000"/>
            <a:ext cx="95000" cy="95000"/>
          </a:xfrm>
          <a:prstGeom prst="rect">
            <a:avLst/>
          </a:prstGeom>
          <a:solidFill>
            <a:srgbClr val="B3DE69"/>
          </a:solidFill>
          <a:ln w="6350">
            <a:solidFill>
              <a:srgbClr val="B3D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81" name="TextBox 180"/>
          <p:cNvSpPr txBox="1"/>
          <p:nvPr/>
        </p:nvSpPr>
        <p:spPr>
          <a:xfrm>
            <a:off x="9461880" y="4280445"/>
            <a:ext cx="763029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Heavy case load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326880" y="4520000"/>
            <a:ext cx="95000" cy="95000"/>
          </a:xfrm>
          <a:prstGeom prst="rect">
            <a:avLst/>
          </a:prstGeom>
          <a:solidFill>
            <a:srgbClr val="BC80BD"/>
          </a:solidFill>
          <a:ln w="6350">
            <a:solidFill>
              <a:srgbClr val="BC8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83" name="TextBox 182"/>
          <p:cNvSpPr txBox="1"/>
          <p:nvPr/>
        </p:nvSpPr>
        <p:spPr>
          <a:xfrm>
            <a:off x="9461880" y="4485445"/>
            <a:ext cx="9457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DG Installation issue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326880" y="4725000"/>
            <a:ext cx="95000" cy="95000"/>
          </a:xfrm>
          <a:prstGeom prst="rect">
            <a:avLst/>
          </a:prstGeom>
          <a:solidFill>
            <a:srgbClr val="A5A5A5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85" name="TextBox 184"/>
          <p:cNvSpPr txBox="1"/>
          <p:nvPr/>
        </p:nvSpPr>
        <p:spPr>
          <a:xfrm>
            <a:off x="9461880" y="4690445"/>
            <a:ext cx="42960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Unknown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326880" y="4930000"/>
            <a:ext cx="95000" cy="95000"/>
          </a:xfrm>
          <a:prstGeom prst="rect">
            <a:avLst/>
          </a:prstGeom>
          <a:solidFill>
            <a:srgbClr val="4472C4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87" name="TextBox 186"/>
          <p:cNvSpPr txBox="1"/>
          <p:nvPr/>
        </p:nvSpPr>
        <p:spPr>
          <a:xfrm>
            <a:off x="9461880" y="4895445"/>
            <a:ext cx="134652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Program change - Hussmann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66929" y="6344352"/>
            <a:ext cx="650000" cy="897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404040"/>
                </a:solidFill>
                <a:latin typeface="Arial"/>
              </a:rPr>
              <a:t>Total issues: 134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26881" y="5320353"/>
            <a:ext cx="1481175" cy="5309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40" b="1" dirty="0">
                <a:solidFill>
                  <a:srgbClr val="303030"/>
                </a:solidFill>
                <a:latin typeface="Aptos Mono"/>
              </a:rPr>
              <a:t>DISPATCH BREAKDOWN: TOTAL (FALSE)</a:t>
            </a:r>
          </a:p>
          <a:p>
            <a:r>
              <a:rPr sz="640" b="0" dirty="0">
                <a:solidFill>
                  <a:srgbClr val="303030"/>
                </a:solidFill>
                <a:latin typeface="Aptos Mono"/>
              </a:rPr>
              <a:t>STORE CONNECT - 65   (6)</a:t>
            </a:r>
          </a:p>
          <a:p>
            <a:r>
              <a:rPr sz="640" b="0" dirty="0">
                <a:solidFill>
                  <a:srgbClr val="303030"/>
                </a:solidFill>
                <a:latin typeface="Aptos Mono"/>
              </a:rPr>
              <a:t>FEXA          - 47   (6)</a:t>
            </a:r>
          </a:p>
          <a:p>
            <a:r>
              <a:rPr sz="640" b="0" dirty="0">
                <a:solidFill>
                  <a:srgbClr val="303030"/>
                </a:solidFill>
                <a:latin typeface="Aptos Mono"/>
              </a:rPr>
              <a:t>RPM           -  2   (1)</a:t>
            </a:r>
          </a:p>
          <a:p>
            <a:r>
              <a:rPr sz="640" b="0" dirty="0">
                <a:solidFill>
                  <a:srgbClr val="303030"/>
                </a:solidFill>
                <a:latin typeface="Aptos Mono"/>
              </a:rPr>
              <a:t>ENG           -  0   (0)</a:t>
            </a:r>
          </a:p>
          <a:p>
            <a:r>
              <a:rPr sz="640" b="0" dirty="0">
                <a:solidFill>
                  <a:srgbClr val="303030"/>
                </a:solidFill>
                <a:latin typeface="Aptos Mono"/>
              </a:rPr>
              <a:t>OTHER         -  7   (0)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19456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June + July issues by root cause</a:t>
            </a:r>
            <a:endParaRPr lang="en-US" sz="2200"/>
          </a:p>
        </p:txBody>
      </p:sp>
      <p:sp>
        <p:nvSpPr>
          <p:cNvPr id="3" name="Shape 1"/>
          <p:cNvSpPr/>
          <p:nvPr/>
        </p:nvSpPr>
        <p:spPr>
          <a:xfrm>
            <a:off x="960120" y="5632704"/>
            <a:ext cx="8458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685800" y="5582412"/>
            <a:ext cx="2011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4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/>
          </a:p>
        </p:txBody>
      </p:sp>
      <p:sp>
        <p:nvSpPr>
          <p:cNvPr id="5" name="Shape 3"/>
          <p:cNvSpPr/>
          <p:nvPr/>
        </p:nvSpPr>
        <p:spPr>
          <a:xfrm>
            <a:off x="960120" y="4145280"/>
            <a:ext cx="8458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4094988"/>
            <a:ext cx="2011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4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40"/>
          </a:p>
        </p:txBody>
      </p:sp>
      <p:sp>
        <p:nvSpPr>
          <p:cNvPr id="7" name="Shape 5"/>
          <p:cNvSpPr/>
          <p:nvPr/>
        </p:nvSpPr>
        <p:spPr>
          <a:xfrm>
            <a:off x="960120" y="2657856"/>
            <a:ext cx="8458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607564"/>
            <a:ext cx="2011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4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640"/>
          </a:p>
        </p:txBody>
      </p:sp>
      <p:sp>
        <p:nvSpPr>
          <p:cNvPr id="9" name="Shape 7"/>
          <p:cNvSpPr/>
          <p:nvPr/>
        </p:nvSpPr>
        <p:spPr>
          <a:xfrm>
            <a:off x="960120" y="1170432"/>
            <a:ext cx="84582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120140"/>
            <a:ext cx="2011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40">
                <a:solidFill>
                  <a:srgbClr val="202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640"/>
          </a:p>
        </p:txBody>
      </p:sp>
      <p:sp>
        <p:nvSpPr>
          <p:cNvPr id="11" name="Shape 9"/>
          <p:cNvSpPr/>
          <p:nvPr/>
        </p:nvSpPr>
        <p:spPr>
          <a:xfrm>
            <a:off x="960120" y="5632704"/>
            <a:ext cx="8458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960120" y="1170432"/>
            <a:ext cx="0" cy="446227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20521" y="1765402"/>
            <a:ext cx="384048" cy="386730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6513" y="160081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620"/>
          </a:p>
        </p:txBody>
      </p:sp>
      <p:sp>
        <p:nvSpPr>
          <p:cNvPr id="15" name="Text 13"/>
          <p:cNvSpPr/>
          <p:nvPr/>
        </p:nvSpPr>
        <p:spPr>
          <a:xfrm>
            <a:off x="99536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Doors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1825371" y="4294022"/>
            <a:ext cx="384048" cy="133868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61363" y="412943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620"/>
          </a:p>
        </p:txBody>
      </p:sp>
      <p:sp>
        <p:nvSpPr>
          <p:cNvPr id="18" name="Text 16"/>
          <p:cNvSpPr/>
          <p:nvPr/>
        </p:nvSpPr>
        <p:spPr>
          <a:xfrm>
            <a:off x="1700212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</a:t>
            </a:r>
            <a:endParaRPr lang="en-US" sz="800"/>
          </a:p>
        </p:txBody>
      </p:sp>
      <p:sp>
        <p:nvSpPr>
          <p:cNvPr id="19" name="Shape 17"/>
          <p:cNvSpPr/>
          <p:nvPr/>
        </p:nvSpPr>
        <p:spPr>
          <a:xfrm>
            <a:off x="2530221" y="4888992"/>
            <a:ext cx="384048" cy="743712"/>
          </a:xfrm>
          <a:prstGeom prst="rect">
            <a:avLst/>
          </a:prstGeom>
          <a:solidFill>
            <a:srgbClr val="B97BC0"/>
          </a:solidFill>
          <a:ln w="12700">
            <a:solidFill>
              <a:srgbClr val="B97BC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6213" y="472440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20"/>
          </a:p>
        </p:txBody>
      </p:sp>
      <p:sp>
        <p:nvSpPr>
          <p:cNvPr id="21" name="Text 19"/>
          <p:cNvSpPr/>
          <p:nvPr/>
        </p:nvSpPr>
        <p:spPr>
          <a:xfrm>
            <a:off x="2405062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3235071" y="5037734"/>
            <a:ext cx="384048" cy="59497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71063" y="487314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20"/>
          </a:p>
        </p:txBody>
      </p:sp>
      <p:sp>
        <p:nvSpPr>
          <p:cNvPr id="24" name="Text 22"/>
          <p:cNvSpPr/>
          <p:nvPr/>
        </p:nvSpPr>
        <p:spPr>
          <a:xfrm>
            <a:off x="3109912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3939921" y="5037734"/>
            <a:ext cx="384048" cy="59497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75913" y="487314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20"/>
          </a:p>
        </p:txBody>
      </p:sp>
      <p:sp>
        <p:nvSpPr>
          <p:cNvPr id="27" name="Text 25"/>
          <p:cNvSpPr/>
          <p:nvPr/>
        </p:nvSpPr>
        <p:spPr>
          <a:xfrm>
            <a:off x="381476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DG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Installation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644771" y="5037734"/>
            <a:ext cx="384048" cy="594970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80763" y="487314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20"/>
          </a:p>
        </p:txBody>
      </p:sp>
      <p:sp>
        <p:nvSpPr>
          <p:cNvPr id="30" name="Text 28"/>
          <p:cNvSpPr/>
          <p:nvPr/>
        </p:nvSpPr>
        <p:spPr>
          <a:xfrm>
            <a:off x="451961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RH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5349621" y="5335219"/>
            <a:ext cx="384048" cy="297485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85613" y="5170627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20"/>
          </a:p>
        </p:txBody>
      </p:sp>
      <p:sp>
        <p:nvSpPr>
          <p:cNvPr id="33" name="Text 31"/>
          <p:cNvSpPr/>
          <p:nvPr/>
        </p:nvSpPr>
        <p:spPr>
          <a:xfrm>
            <a:off x="522446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6054471" y="5335219"/>
            <a:ext cx="384048" cy="297485"/>
          </a:xfrm>
          <a:prstGeom prst="rect">
            <a:avLst/>
          </a:prstGeom>
          <a:solidFill>
            <a:srgbClr val="8DD3C7"/>
          </a:solidFill>
          <a:ln w="12700">
            <a:solidFill>
              <a:srgbClr val="8DD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90463" y="5170627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20"/>
          </a:p>
        </p:txBody>
      </p:sp>
      <p:sp>
        <p:nvSpPr>
          <p:cNvPr id="36" name="Text 34"/>
          <p:cNvSpPr/>
          <p:nvPr/>
        </p:nvSpPr>
        <p:spPr>
          <a:xfrm>
            <a:off x="592931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tube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6759321" y="5335219"/>
            <a:ext cx="384048" cy="297485"/>
          </a:xfrm>
          <a:prstGeom prst="rect">
            <a:avLst/>
          </a:prstGeom>
          <a:solidFill>
            <a:srgbClr val="003F5C"/>
          </a:solidFill>
          <a:ln w="12700">
            <a:solidFill>
              <a:srgbClr val="003F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95313" y="5170627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20"/>
          </a:p>
        </p:txBody>
      </p:sp>
      <p:sp>
        <p:nvSpPr>
          <p:cNvPr id="39" name="Text 37"/>
          <p:cNvSpPr/>
          <p:nvPr/>
        </p:nvSpPr>
        <p:spPr>
          <a:xfrm>
            <a:off x="663416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Ref. leak /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charge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7464171" y="5335219"/>
            <a:ext cx="384048" cy="297485"/>
          </a:xfrm>
          <a:prstGeom prst="rect">
            <a:avLst/>
          </a:prstGeom>
          <a:solidFill>
            <a:srgbClr val="A5A5A5"/>
          </a:solidFill>
          <a:ln w="12700">
            <a:solidFill>
              <a:srgbClr val="A5A5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00163" y="5170627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20"/>
          </a:p>
        </p:txBody>
      </p:sp>
      <p:sp>
        <p:nvSpPr>
          <p:cNvPr id="42" name="Text 40"/>
          <p:cNvSpPr/>
          <p:nvPr/>
        </p:nvSpPr>
        <p:spPr>
          <a:xfrm>
            <a:off x="7339012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/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Loose wiring</a:t>
            </a:r>
            <a:endParaRPr lang="en-US" sz="800"/>
          </a:p>
        </p:txBody>
      </p:sp>
      <p:sp>
        <p:nvSpPr>
          <p:cNvPr id="43" name="Shape 41"/>
          <p:cNvSpPr/>
          <p:nvPr/>
        </p:nvSpPr>
        <p:spPr>
          <a:xfrm>
            <a:off x="8169021" y="5483962"/>
            <a:ext cx="384048" cy="148742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05013" y="531937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20"/>
          </a:p>
        </p:txBody>
      </p:sp>
      <p:sp>
        <p:nvSpPr>
          <p:cNvPr id="45" name="Text 43"/>
          <p:cNvSpPr/>
          <p:nvPr/>
        </p:nvSpPr>
        <p:spPr>
          <a:xfrm>
            <a:off x="804386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8873871" y="5483962"/>
            <a:ext cx="384048" cy="148742"/>
          </a:xfrm>
          <a:prstGeom prst="rect">
            <a:avLst/>
          </a:prstGeom>
          <a:solidFill>
            <a:srgbClr val="FF7C73"/>
          </a:solidFill>
          <a:ln w="12700">
            <a:solidFill>
              <a:srgbClr val="FF7C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809863" y="531937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20"/>
          </a:p>
        </p:txBody>
      </p:sp>
      <p:sp>
        <p:nvSpPr>
          <p:cNvPr id="48" name="Text 46"/>
          <p:cNvSpPr/>
          <p:nvPr/>
        </p:nvSpPr>
        <p:spPr>
          <a:xfrm>
            <a:off x="8748713" y="5742432"/>
            <a:ext cx="6343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Overstocking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 rot="16200000">
            <a:off x="-166624" y="3074271"/>
            <a:ext cx="1735908" cy="269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Issues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370832" y="6327648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404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 Category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9893808" y="9326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1400"/>
          </a:p>
        </p:txBody>
      </p:sp>
      <p:sp>
        <p:nvSpPr>
          <p:cNvPr id="52" name="Shape 50"/>
          <p:cNvSpPr/>
          <p:nvPr/>
        </p:nvSpPr>
        <p:spPr>
          <a:xfrm>
            <a:off x="9893808" y="1275588"/>
            <a:ext cx="118872" cy="118872"/>
          </a:xfrm>
          <a:prstGeom prst="rect">
            <a:avLst/>
          </a:prstGeom>
          <a:solidFill>
            <a:srgbClr val="70AD47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10076688" y="124358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Doors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9893808" y="1540764"/>
            <a:ext cx="118872" cy="118872"/>
          </a:xfrm>
          <a:prstGeom prst="rect">
            <a:avLst/>
          </a:prstGeom>
          <a:solidFill>
            <a:srgbClr val="FFC000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10076688" y="150876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Alarm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9893808" y="1805940"/>
            <a:ext cx="118872" cy="118872"/>
          </a:xfrm>
          <a:prstGeom prst="rect">
            <a:avLst/>
          </a:prstGeom>
          <a:solidFill>
            <a:srgbClr val="B97BC0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10076688" y="177393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800"/>
          </a:p>
        </p:txBody>
      </p:sp>
      <p:sp>
        <p:nvSpPr>
          <p:cNvPr id="58" name="Shape 56"/>
          <p:cNvSpPr/>
          <p:nvPr/>
        </p:nvSpPr>
        <p:spPr>
          <a:xfrm>
            <a:off x="9893808" y="2071116"/>
            <a:ext cx="118872" cy="118872"/>
          </a:xfrm>
          <a:prstGeom prst="rect">
            <a:avLst/>
          </a:prstGeom>
          <a:solidFill>
            <a:srgbClr val="5B9BD5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10076688" y="203911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problem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9893808" y="2336292"/>
            <a:ext cx="118872" cy="118872"/>
          </a:xfrm>
          <a:prstGeom prst="rect">
            <a:avLst/>
          </a:prstGeom>
          <a:solidFill>
            <a:srgbClr val="C55A11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10076688" y="230428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DG Installation issue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9893808" y="2601468"/>
            <a:ext cx="118872" cy="118872"/>
          </a:xfrm>
          <a:prstGeom prst="rect">
            <a:avLst/>
          </a:prstGeom>
          <a:solidFill>
            <a:srgbClr val="548235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3" name="Text 61"/>
          <p:cNvSpPr/>
          <p:nvPr/>
        </p:nvSpPr>
        <p:spPr>
          <a:xfrm>
            <a:off x="10076688" y="256946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Store RH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9893808" y="2866644"/>
            <a:ext cx="118872" cy="118872"/>
          </a:xfrm>
          <a:prstGeom prst="rect">
            <a:avLst/>
          </a:prstGeom>
          <a:solidFill>
            <a:srgbClr val="ED7D31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5" name="Text 63"/>
          <p:cNvSpPr/>
          <p:nvPr/>
        </p:nvSpPr>
        <p:spPr>
          <a:xfrm>
            <a:off x="10076688" y="283464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Failure</a:t>
            </a:r>
            <a:endParaRPr lang="en-US" sz="800"/>
          </a:p>
        </p:txBody>
      </p:sp>
      <p:sp>
        <p:nvSpPr>
          <p:cNvPr id="66" name="Shape 64"/>
          <p:cNvSpPr/>
          <p:nvPr/>
        </p:nvSpPr>
        <p:spPr>
          <a:xfrm>
            <a:off x="9893808" y="3131820"/>
            <a:ext cx="118872" cy="118872"/>
          </a:xfrm>
          <a:prstGeom prst="rect">
            <a:avLst/>
          </a:prstGeom>
          <a:solidFill>
            <a:srgbClr val="8DD3C7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7" name="Text 65"/>
          <p:cNvSpPr/>
          <p:nvPr/>
        </p:nvSpPr>
        <p:spPr>
          <a:xfrm>
            <a:off x="10076688" y="309981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Drain tube blocked</a:t>
            </a:r>
            <a:endParaRPr lang="en-US" sz="800"/>
          </a:p>
        </p:txBody>
      </p:sp>
      <p:sp>
        <p:nvSpPr>
          <p:cNvPr id="68" name="Shape 66"/>
          <p:cNvSpPr/>
          <p:nvPr/>
        </p:nvSpPr>
        <p:spPr>
          <a:xfrm>
            <a:off x="9893808" y="3396996"/>
            <a:ext cx="118872" cy="118872"/>
          </a:xfrm>
          <a:prstGeom prst="rect">
            <a:avLst/>
          </a:prstGeom>
          <a:solidFill>
            <a:srgbClr val="003F5C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69" name="Text 67"/>
          <p:cNvSpPr/>
          <p:nvPr/>
        </p:nvSpPr>
        <p:spPr>
          <a:xfrm>
            <a:off x="10076688" y="336499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Ref. leak/ Low charge</a:t>
            </a:r>
            <a:endParaRPr lang="en-US" sz="800"/>
          </a:p>
        </p:txBody>
      </p:sp>
      <p:sp>
        <p:nvSpPr>
          <p:cNvPr id="70" name="Shape 68"/>
          <p:cNvSpPr/>
          <p:nvPr/>
        </p:nvSpPr>
        <p:spPr>
          <a:xfrm>
            <a:off x="9893808" y="3662172"/>
            <a:ext cx="118872" cy="118872"/>
          </a:xfrm>
          <a:prstGeom prst="rect">
            <a:avLst/>
          </a:prstGeom>
          <a:solidFill>
            <a:srgbClr val="A5A5A5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71" name="Text 69"/>
          <p:cNvSpPr/>
          <p:nvPr/>
        </p:nvSpPr>
        <p:spPr>
          <a:xfrm>
            <a:off x="10076688" y="363016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/ Loose wiring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9893808" y="3927348"/>
            <a:ext cx="118872" cy="118872"/>
          </a:xfrm>
          <a:prstGeom prst="rect">
            <a:avLst/>
          </a:prstGeom>
          <a:solidFill>
            <a:srgbClr val="1F1F1F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73" name="Text 71"/>
          <p:cNvSpPr/>
          <p:nvPr/>
        </p:nvSpPr>
        <p:spPr>
          <a:xfrm>
            <a:off x="10076688" y="389534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Program</a:t>
            </a:r>
            <a:endParaRPr lang="en-US" sz="800"/>
          </a:p>
        </p:txBody>
      </p:sp>
      <p:sp>
        <p:nvSpPr>
          <p:cNvPr id="74" name="Shape 72"/>
          <p:cNvSpPr/>
          <p:nvPr/>
        </p:nvSpPr>
        <p:spPr>
          <a:xfrm>
            <a:off x="9893808" y="4192524"/>
            <a:ext cx="118872" cy="118872"/>
          </a:xfrm>
          <a:prstGeom prst="rect">
            <a:avLst/>
          </a:prstGeom>
          <a:solidFill>
            <a:srgbClr val="FF7C73"/>
          </a:solidFill>
          <a:ln w="508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sz="800"/>
          </a:p>
        </p:txBody>
      </p:sp>
      <p:sp>
        <p:nvSpPr>
          <p:cNvPr id="75" name="Text 73"/>
          <p:cNvSpPr/>
          <p:nvPr/>
        </p:nvSpPr>
        <p:spPr>
          <a:xfrm>
            <a:off x="10076688" y="416052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Overstocking</a:t>
            </a:r>
            <a:endParaRPr lang="en-US" sz="800"/>
          </a:p>
        </p:txBody>
      </p:sp>
      <p:sp>
        <p:nvSpPr>
          <p:cNvPr id="76" name="Text 74"/>
          <p:cNvSpPr/>
          <p:nvPr/>
        </p:nvSpPr>
        <p:spPr>
          <a:xfrm>
            <a:off x="566928" y="641908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Doors = Door Torque + Door issue</a:t>
            </a:r>
            <a:endParaRPr lang="en-US" sz="610"/>
          </a:p>
        </p:txBody>
      </p:sp>
      <p:sp>
        <p:nvSpPr>
          <p:cNvPr id="77" name="Text 75"/>
          <p:cNvSpPr/>
          <p:nvPr/>
        </p:nvSpPr>
        <p:spPr>
          <a:xfrm>
            <a:off x="566928" y="656539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1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June + July rows with issues: 61</a:t>
            </a:r>
            <a:endParaRPr lang="en-US" sz="61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1" y="159878"/>
            <a:ext cx="6200000" cy="2565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Arial"/>
              </a:rPr>
              <a:t>June + July issues by root cause (After clean point)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42415" y="5065776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82415" y="5010281"/>
            <a:ext cx="115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42415" y="3761231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82415" y="3705736"/>
            <a:ext cx="115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2415" y="2456687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82415" y="2401192"/>
            <a:ext cx="115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42415" y="1152143"/>
            <a:ext cx="7845552" cy="0"/>
          </a:xfrm>
          <a:prstGeom prst="line">
            <a:avLst/>
          </a:prstGeom>
          <a:ln w="14604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2415" y="1096648"/>
            <a:ext cx="115000" cy="10265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Arial"/>
              </a:rPr>
              <a:t>30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5" y="1152143"/>
            <a:ext cx="0" cy="3913633"/>
          </a:xfrm>
          <a:prstGeom prst="line">
            <a:avLst/>
          </a:prstGeom>
          <a:ln w="1524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5" y="5065776"/>
            <a:ext cx="7845552" cy="0"/>
          </a:xfrm>
          <a:prstGeom prst="line">
            <a:avLst/>
          </a:prstGeom>
          <a:ln w="1524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210310" y="3165552"/>
            <a:ext cx="769441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Arial"/>
              </a:rPr>
              <a:t>Number of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2602" y="5691705"/>
            <a:ext cx="1043555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404040"/>
                </a:solidFill>
                <a:latin typeface="Arial"/>
              </a:rPr>
              <a:t>Root Cause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79712" y="4674412"/>
            <a:ext cx="379201" cy="391363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9712" y="1673960"/>
            <a:ext cx="379201" cy="300045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4712" y="1555327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3/26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2255" y="5171100"/>
            <a:ext cx="27411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Doors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3508" y="4674412"/>
            <a:ext cx="379201" cy="3913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33508" y="3891686"/>
            <a:ext cx="379201" cy="78272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08508" y="3773053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3/9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257" y="5109546"/>
            <a:ext cx="26770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False
Alarm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7304" y="4413503"/>
            <a:ext cx="379201" cy="65227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2304" y="4294870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0/5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2101" y="5171100"/>
            <a:ext cx="42960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Unknown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41100" y="4935321"/>
            <a:ext cx="379201" cy="13045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41100" y="4543958"/>
            <a:ext cx="379201" cy="391363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16100" y="4425325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1/4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3231" y="5109546"/>
            <a:ext cx="714939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Communication
problem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896" y="4543958"/>
            <a:ext cx="379201" cy="52181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69896" y="4425325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0/4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7633" y="5047990"/>
            <a:ext cx="493725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DG
Installation
issue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48692" y="4543958"/>
            <a:ext cx="379201" cy="52181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23692" y="4425325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0/4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6695" y="5109546"/>
            <a:ext cx="42319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High
Store RH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02488" y="4804867"/>
            <a:ext cx="379201" cy="26090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77488" y="4686234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0/2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5188" y="5109546"/>
            <a:ext cx="53380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Component
Failure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56284" y="4935321"/>
            <a:ext cx="379201" cy="13045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56284" y="4804867"/>
            <a:ext cx="379201" cy="13045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31284" y="4686234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1/2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7950" y="5047990"/>
            <a:ext cx="35586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Drain
tube
blocked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0080" y="4804867"/>
            <a:ext cx="379201" cy="26090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85080" y="4686234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2/2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2780" y="5109546"/>
            <a:ext cx="53380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Ref. leak /
Low charge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63876" y="4804867"/>
            <a:ext cx="379201" cy="26090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038876" y="4686234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2/2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4133" y="5109546"/>
            <a:ext cx="57868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Wrong /
Loose wiring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17672" y="4935321"/>
            <a:ext cx="379201" cy="13045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92672" y="4816688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1/1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06896" y="5109546"/>
            <a:ext cx="40075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Incorrect
Program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71468" y="4935321"/>
            <a:ext cx="379201" cy="130454"/>
          </a:xfrm>
          <a:prstGeom prst="rect">
            <a:avLst/>
          </a:prstGeom>
          <a:solidFill>
            <a:srgbClr val="FB8072"/>
          </a:solidFill>
          <a:ln w="6350">
            <a:solidFill>
              <a:srgbClr val="FB8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46468" y="4816688"/>
            <a:ext cx="429201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60" b="1">
                <a:solidFill>
                  <a:srgbClr val="202020"/>
                </a:solidFill>
                <a:latin typeface="Arial"/>
              </a:rPr>
              <a:t>1/1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60505" y="5171100"/>
            <a:ext cx="601126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202020"/>
                </a:solidFill>
                <a:latin typeface="Arial"/>
              </a:rPr>
              <a:t>Overstocking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11964" y="902478"/>
            <a:ext cx="63318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dirty="0">
                <a:solidFill>
                  <a:srgbClr val="1F4E79"/>
                </a:solidFill>
                <a:latin typeface="Arial"/>
              </a:rPr>
              <a:t>Bar Split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06964" y="1304033"/>
            <a:ext cx="105000" cy="1050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0" name="TextBox 59"/>
          <p:cNvSpPr txBox="1"/>
          <p:nvPr/>
        </p:nvSpPr>
        <p:spPr>
          <a:xfrm>
            <a:off x="9446964" y="1253090"/>
            <a:ext cx="123751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 dirty="0">
                <a:solidFill>
                  <a:srgbClr val="202020"/>
                </a:solidFill>
                <a:latin typeface="Arial"/>
              </a:rPr>
              <a:t>Before / at clean point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06964" y="1504033"/>
            <a:ext cx="105000" cy="105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2" name="TextBox 61"/>
          <p:cNvSpPr txBox="1"/>
          <p:nvPr/>
        </p:nvSpPr>
        <p:spPr>
          <a:xfrm>
            <a:off x="9446964" y="1453090"/>
            <a:ext cx="92012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Arial"/>
              </a:rPr>
              <a:t>After clean point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11964" y="2456687"/>
            <a:ext cx="850000" cy="1154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Arial"/>
              </a:rPr>
              <a:t>Root Cause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11964" y="2656687"/>
            <a:ext cx="95000" cy="9500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5" name="TextBox 64"/>
          <p:cNvSpPr txBox="1"/>
          <p:nvPr/>
        </p:nvSpPr>
        <p:spPr>
          <a:xfrm>
            <a:off x="9446964" y="2622132"/>
            <a:ext cx="27411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Doors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11964" y="2861687"/>
            <a:ext cx="95000" cy="95000"/>
          </a:xfrm>
          <a:prstGeom prst="rect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7" name="TextBox 66"/>
          <p:cNvSpPr txBox="1"/>
          <p:nvPr/>
        </p:nvSpPr>
        <p:spPr>
          <a:xfrm>
            <a:off x="9446964" y="2827132"/>
            <a:ext cx="54822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False Alarm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11964" y="3066687"/>
            <a:ext cx="95000" cy="95000"/>
          </a:xfrm>
          <a:prstGeom prst="rect">
            <a:avLst/>
          </a:prstGeom>
          <a:solidFill>
            <a:srgbClr val="A5A5A5"/>
          </a:solidFill>
          <a:ln w="635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69" name="TextBox 68"/>
          <p:cNvSpPr txBox="1"/>
          <p:nvPr/>
        </p:nvSpPr>
        <p:spPr>
          <a:xfrm>
            <a:off x="9446964" y="3032132"/>
            <a:ext cx="42960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Unknown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11964" y="3271687"/>
            <a:ext cx="95000" cy="9500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1" name="TextBox 70"/>
          <p:cNvSpPr txBox="1"/>
          <p:nvPr/>
        </p:nvSpPr>
        <p:spPr>
          <a:xfrm>
            <a:off x="9446964" y="3237132"/>
            <a:ext cx="1115690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Communication problem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11964" y="3476687"/>
            <a:ext cx="95000" cy="95000"/>
          </a:xfrm>
          <a:prstGeom prst="rect">
            <a:avLst/>
          </a:prstGeom>
          <a:solidFill>
            <a:srgbClr val="BC80BD"/>
          </a:solidFill>
          <a:ln w="6350">
            <a:solidFill>
              <a:srgbClr val="BC80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3" name="TextBox 72"/>
          <p:cNvSpPr txBox="1"/>
          <p:nvPr/>
        </p:nvSpPr>
        <p:spPr>
          <a:xfrm>
            <a:off x="9446964" y="3442132"/>
            <a:ext cx="945772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 dirty="0">
                <a:solidFill>
                  <a:srgbClr val="202020"/>
                </a:solidFill>
                <a:latin typeface="Arial"/>
              </a:rPr>
              <a:t>DG Installation issue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311964" y="3681687"/>
            <a:ext cx="95000" cy="95000"/>
          </a:xfrm>
          <a:prstGeom prst="rect">
            <a:avLst/>
          </a:prstGeom>
          <a:solidFill>
            <a:srgbClr val="8DD3C7"/>
          </a:solidFill>
          <a:ln w="6350">
            <a:solidFill>
              <a:srgbClr val="8D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5" name="TextBox 74"/>
          <p:cNvSpPr txBox="1"/>
          <p:nvPr/>
        </p:nvSpPr>
        <p:spPr>
          <a:xfrm>
            <a:off x="9446964" y="3647132"/>
            <a:ext cx="66364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High Store RH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11964" y="3886687"/>
            <a:ext cx="95000" cy="95000"/>
          </a:xfrm>
          <a:prstGeom prst="rect">
            <a:avLst/>
          </a:prstGeom>
          <a:solidFill>
            <a:srgbClr val="548235"/>
          </a:solidFill>
          <a:ln w="63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" name="TextBox 76"/>
          <p:cNvSpPr txBox="1"/>
          <p:nvPr/>
        </p:nvSpPr>
        <p:spPr>
          <a:xfrm>
            <a:off x="9446964" y="3852132"/>
            <a:ext cx="87684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Component Failure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11964" y="4091687"/>
            <a:ext cx="95000" cy="95000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" name="TextBox 78"/>
          <p:cNvSpPr txBox="1"/>
          <p:nvPr/>
        </p:nvSpPr>
        <p:spPr>
          <a:xfrm>
            <a:off x="9446964" y="4057132"/>
            <a:ext cx="860813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Drain tube blocked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11964" y="4296687"/>
            <a:ext cx="95000" cy="95000"/>
          </a:xfrm>
          <a:prstGeom prst="rect">
            <a:avLst/>
          </a:prstGeom>
          <a:solidFill>
            <a:srgbClr val="003F5C"/>
          </a:solidFill>
          <a:ln w="6350">
            <a:solidFill>
              <a:srgbClr val="00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" name="TextBox 80"/>
          <p:cNvSpPr txBox="1"/>
          <p:nvPr/>
        </p:nvSpPr>
        <p:spPr>
          <a:xfrm>
            <a:off x="9446964" y="4262132"/>
            <a:ext cx="1027525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Ref. leak / Low charge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311964" y="4501687"/>
            <a:ext cx="95000" cy="95000"/>
          </a:xfrm>
          <a:prstGeom prst="rect">
            <a:avLst/>
          </a:prstGeom>
          <a:solidFill>
            <a:srgbClr val="7030A0"/>
          </a:solidFill>
          <a:ln w="63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" name="TextBox 82"/>
          <p:cNvSpPr txBox="1"/>
          <p:nvPr/>
        </p:nvSpPr>
        <p:spPr>
          <a:xfrm>
            <a:off x="9446964" y="4467132"/>
            <a:ext cx="96821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Wrong / Loose wiring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11964" y="4706687"/>
            <a:ext cx="95000" cy="95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" name="TextBox 84"/>
          <p:cNvSpPr txBox="1"/>
          <p:nvPr/>
        </p:nvSpPr>
        <p:spPr>
          <a:xfrm>
            <a:off x="9446964" y="4672132"/>
            <a:ext cx="823944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Incorrect Program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11964" y="4911687"/>
            <a:ext cx="95000" cy="95000"/>
          </a:xfrm>
          <a:prstGeom prst="rect">
            <a:avLst/>
          </a:prstGeom>
          <a:solidFill>
            <a:srgbClr val="FB8072"/>
          </a:solidFill>
          <a:ln w="6350">
            <a:solidFill>
              <a:srgbClr val="FB8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" name="TextBox 86"/>
          <p:cNvSpPr txBox="1"/>
          <p:nvPr/>
        </p:nvSpPr>
        <p:spPr>
          <a:xfrm>
            <a:off x="9446964" y="4877132"/>
            <a:ext cx="601127" cy="1231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202020"/>
                </a:solidFill>
                <a:latin typeface="Arial"/>
              </a:rPr>
              <a:t>Overstocking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9" y="6255000"/>
            <a:ext cx="1800000" cy="897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404040"/>
                </a:solidFill>
                <a:latin typeface="Arial"/>
              </a:rPr>
              <a:t>Total June + July rows with issues: 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1204"/>
            <a:ext cx="3002810" cy="28623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ptos Display"/>
              </a:rPr>
              <a:t>Root Cause Deep Dive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–</a:t>
            </a:r>
            <a:r>
              <a:rPr sz="18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Aptos Display"/>
              </a:rPr>
              <a:t>Doors</a:t>
            </a:r>
            <a:endParaRPr sz="1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2514600" cy="566928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966" y="1024864"/>
            <a:ext cx="126162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New clean point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2155" y="1242845"/>
            <a:ext cx="633250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7/17/2026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60120"/>
            <a:ext cx="2514600" cy="56692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5226" y="1024864"/>
            <a:ext cx="140269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After clean point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243584"/>
            <a:ext cx="2331720" cy="16459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960120"/>
            <a:ext cx="251460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2748" y="1024864"/>
            <a:ext cx="126323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Total category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243584"/>
            <a:ext cx="2331720" cy="16459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960120"/>
            <a:ext cx="2514600" cy="566928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9695" y="1024864"/>
            <a:ext cx="8849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Issue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1243584"/>
            <a:ext cx="2331720" cy="16459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19" b="1" i="0" dirty="0">
                <a:solidFill>
                  <a:srgbClr val="FFFFFF"/>
                </a:solidFill>
                <a:latin typeface="Aptos"/>
              </a:rPr>
              <a:t>Doors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2551797"/>
            <a:ext cx="5312664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/>
            <a:r>
              <a:rPr lang="en-US" sz="1050" b="1" i="0" dirty="0">
                <a:solidFill>
                  <a:srgbClr val="FFFFFF"/>
                </a:solidFill>
                <a:latin typeface="Aptos"/>
              </a:rPr>
              <a:t>Issue Break down</a:t>
            </a:r>
            <a:endParaRPr sz="105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2764536"/>
            <a:ext cx="5507736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01696"/>
            <a:ext cx="5257800" cy="1357295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b="1" dirty="0"/>
              <a:t>ISSUE</a:t>
            </a:r>
            <a:r>
              <a:rPr lang="en-US" sz="1050" dirty="0"/>
              <a:t>				</a:t>
            </a:r>
            <a:r>
              <a:rPr lang="en-US" sz="1050" b="1" dirty="0"/>
              <a:t>QTY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b="1" dirty="0"/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Doors losing Torque - 			8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Doors not closing/ not closing overnight		12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Door gasket issues			3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Torsion rod failure			1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Door heater/ Door frame heater issues		2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6272784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532825"/>
            <a:ext cx="2609753" cy="170816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ptos"/>
              </a:rPr>
              <a:t>Engineering Proposed Solution /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2764536"/>
            <a:ext cx="5477255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944" y="2901696"/>
            <a:ext cx="5257800" cy="710964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	</a:t>
            </a:r>
            <a:r>
              <a:rPr lang="en-US" sz="1050" b="1" dirty="0"/>
              <a:t>RESOLUTION			TIMELINE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Installation sign off sheet for RPM		7/9/2026</a:t>
            </a:r>
            <a:endParaRPr sz="1050" dirty="0"/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Engineering Instruction label on the glass door 	7/17/2026</a:t>
            </a:r>
            <a:endParaRPr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1204"/>
            <a:ext cx="3579763" cy="28623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ptos Display"/>
              </a:rPr>
              <a:t>Root Cause Deep Dive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–</a:t>
            </a:r>
            <a:r>
              <a:rPr sz="18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False Alarm</a:t>
            </a:r>
            <a:endParaRPr sz="1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2514600" cy="566928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966" y="1024864"/>
            <a:ext cx="126162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New clean point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2156" y="1242845"/>
            <a:ext cx="633250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7/24/2026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60120"/>
            <a:ext cx="2514600" cy="56692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5226" y="1024864"/>
            <a:ext cx="140269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After clean point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243584"/>
            <a:ext cx="2331720" cy="16459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960120"/>
            <a:ext cx="251460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2748" y="1024864"/>
            <a:ext cx="126323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Total category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0631" y="1242845"/>
            <a:ext cx="107465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9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34856" y="960120"/>
            <a:ext cx="2514600" cy="566928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9695" y="1024864"/>
            <a:ext cx="8849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Issue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32" y="1242845"/>
            <a:ext cx="740652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False Alarm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2551797"/>
            <a:ext cx="5312664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/>
            <a:r>
              <a:rPr lang="en-US" sz="1050" b="1" i="0" dirty="0">
                <a:solidFill>
                  <a:srgbClr val="FFFFFF"/>
                </a:solidFill>
                <a:latin typeface="Aptos"/>
              </a:rPr>
              <a:t>Issue Break down</a:t>
            </a:r>
            <a:endParaRPr sz="105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2764536"/>
            <a:ext cx="5507736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01696"/>
            <a:ext cx="5257800" cy="1034129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b="1" dirty="0"/>
              <a:t>ISSUE</a:t>
            </a:r>
            <a:r>
              <a:rPr lang="en-US" sz="1050" dirty="0"/>
              <a:t>				</a:t>
            </a:r>
            <a:r>
              <a:rPr lang="en-US" sz="1050" b="1" dirty="0"/>
              <a:t>QTY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b="1" dirty="0"/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Cancelled dispatch – Case pulled back down		3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FEXA alarm – Tech found nothing wrong with case	4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Store connect alarm – Cleared itself when tech reached	2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6272784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532825"/>
            <a:ext cx="2609753" cy="170816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ptos"/>
              </a:rPr>
              <a:t>Engineering Proposed Solution /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2764536"/>
            <a:ext cx="5477255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944" y="2901696"/>
            <a:ext cx="5257800" cy="710964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	</a:t>
            </a:r>
            <a:r>
              <a:rPr lang="en-US" sz="1050" b="1" dirty="0"/>
              <a:t>RESOLUTION			TIMELINE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Checking if control logics could be modified		7/24/2026</a:t>
            </a:r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Lab testing to figure out case breaking points		7/24/2026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26101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1204"/>
            <a:ext cx="3957494" cy="28623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ptos Display"/>
              </a:rPr>
              <a:t>Root Cause Deep Dive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–</a:t>
            </a:r>
            <a:r>
              <a:rPr sz="18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Refrigerant leak</a:t>
            </a:r>
            <a:endParaRPr sz="1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2514600" cy="566928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966" y="1024864"/>
            <a:ext cx="126162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New clean point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0892" y="1242845"/>
            <a:ext cx="275781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TBD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60120"/>
            <a:ext cx="2514600" cy="56692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5226" y="1024864"/>
            <a:ext cx="140269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After clean point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2839" y="1242845"/>
            <a:ext cx="107465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dirty="0">
                <a:solidFill>
                  <a:srgbClr val="FFFFFF"/>
                </a:solidFill>
                <a:latin typeface="Aptos"/>
              </a:rPr>
              <a:t>2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7064" y="960120"/>
            <a:ext cx="251460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2748" y="1024864"/>
            <a:ext cx="126323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Total category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0631" y="1242845"/>
            <a:ext cx="107465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dirty="0">
                <a:solidFill>
                  <a:srgbClr val="FFFFFF"/>
                </a:solidFill>
                <a:latin typeface="Aptos"/>
              </a:rPr>
              <a:t>2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34856" y="960120"/>
            <a:ext cx="2514600" cy="566928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9695" y="1024864"/>
            <a:ext cx="8849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Issue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1609" y="1242845"/>
            <a:ext cx="981102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dirty="0">
                <a:solidFill>
                  <a:srgbClr val="FFFFFF"/>
                </a:solidFill>
                <a:latin typeface="Aptos"/>
              </a:rPr>
              <a:t>Refrigerant leak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2551797"/>
            <a:ext cx="5312664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/>
            <a:r>
              <a:rPr lang="en-US" sz="1050" b="1" i="0" dirty="0">
                <a:solidFill>
                  <a:srgbClr val="FFFFFF"/>
                </a:solidFill>
                <a:latin typeface="Aptos"/>
              </a:rPr>
              <a:t>Issue Break down</a:t>
            </a:r>
            <a:endParaRPr sz="105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2764536"/>
            <a:ext cx="5507736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01696"/>
            <a:ext cx="5257800" cy="1034129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b="1" dirty="0"/>
              <a:t>ISSUE</a:t>
            </a:r>
            <a:r>
              <a:rPr lang="en-US" sz="1050" dirty="0"/>
              <a:t>				</a:t>
            </a:r>
            <a:r>
              <a:rPr lang="en-US" sz="1050" b="1" dirty="0"/>
              <a:t>QTY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b="1" dirty="0"/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Potential TXV leak – under investigation		1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Unknown – Waiting for cassette to be returned		1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6272784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532825"/>
            <a:ext cx="2609753" cy="170816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ptos"/>
              </a:rPr>
              <a:t>Engineering Proposed Solution /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2764536"/>
            <a:ext cx="5477255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944" y="2901696"/>
            <a:ext cx="5257800" cy="549381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	</a:t>
            </a:r>
            <a:r>
              <a:rPr lang="en-US" sz="1050" b="1" dirty="0"/>
              <a:t>RESOLUTION			TIMELINE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Will send TXV to </a:t>
            </a:r>
            <a:r>
              <a:rPr lang="en-US" sz="1050" dirty="0" err="1"/>
              <a:t>Sporlan</a:t>
            </a:r>
            <a:r>
              <a:rPr lang="en-US" sz="1050" dirty="0"/>
              <a:t> for further investigation	TBD</a:t>
            </a:r>
          </a:p>
        </p:txBody>
      </p:sp>
    </p:spTree>
    <p:extLst>
      <p:ext uri="{BB962C8B-B14F-4D97-AF65-F5344CB8AC3E}">
        <p14:creationId xmlns:p14="http://schemas.microsoft.com/office/powerpoint/2010/main" val="324930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1204"/>
            <a:ext cx="4256743" cy="28623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Aptos Display"/>
              </a:rPr>
              <a:t>Root Cause Deep Dive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–</a:t>
            </a:r>
            <a:r>
              <a:rPr sz="1800" b="1" i="0" dirty="0">
                <a:solidFill>
                  <a:srgbClr val="FFFFFF"/>
                </a:solidFill>
                <a:latin typeface="Aptos Display"/>
              </a:rPr>
              <a:t> </a:t>
            </a:r>
            <a:r>
              <a:rPr lang="en-US" sz="1800" b="1" i="0" dirty="0">
                <a:solidFill>
                  <a:srgbClr val="FFFFFF"/>
                </a:solidFill>
                <a:latin typeface="Aptos Display"/>
              </a:rPr>
              <a:t>Drain tube blocked</a:t>
            </a:r>
            <a:endParaRPr sz="1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960120"/>
            <a:ext cx="2514600" cy="566928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7966" y="1024864"/>
            <a:ext cx="1261627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New clean point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2157" y="1242845"/>
            <a:ext cx="633250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7/17/2026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9272" y="960120"/>
            <a:ext cx="2514600" cy="566928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75226" y="1024864"/>
            <a:ext cx="140269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After clean point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2839" y="1242845"/>
            <a:ext cx="107465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1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7064" y="960120"/>
            <a:ext cx="2514600" cy="566928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2748" y="1024864"/>
            <a:ext cx="1263231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Total category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0631" y="1242845"/>
            <a:ext cx="107465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2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34856" y="960120"/>
            <a:ext cx="2514600" cy="566928"/>
          </a:xfrm>
          <a:prstGeom prst="round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9695" y="1024864"/>
            <a:ext cx="884922" cy="163122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Issue category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7832" y="1242845"/>
            <a:ext cx="1168654" cy="166071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ctr"/>
            <a:r>
              <a:rPr lang="en-US" sz="1019" b="1" i="0" dirty="0">
                <a:solidFill>
                  <a:srgbClr val="FFFFFF"/>
                </a:solidFill>
                <a:latin typeface="Aptos"/>
              </a:rPr>
              <a:t>Drain tube blocked</a:t>
            </a:r>
            <a:endParaRPr sz="1019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" y="2551797"/>
            <a:ext cx="5312664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/>
            <a:r>
              <a:rPr lang="en-US" sz="1050" b="1" i="0" dirty="0">
                <a:solidFill>
                  <a:srgbClr val="FFFFFF"/>
                </a:solidFill>
                <a:latin typeface="Aptos"/>
              </a:rPr>
              <a:t>Issue Break down</a:t>
            </a:r>
            <a:endParaRPr sz="105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1480" y="2764536"/>
            <a:ext cx="5507736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01696"/>
            <a:ext cx="5257800" cy="710964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b="1" dirty="0"/>
              <a:t>ISSUE</a:t>
            </a:r>
            <a:r>
              <a:rPr lang="en-US" sz="1050" dirty="0"/>
              <a:t>				</a:t>
            </a:r>
            <a:r>
              <a:rPr lang="en-US" sz="1050" b="1" dirty="0"/>
              <a:t>QTY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b="1" dirty="0"/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Drain tube blocked because of excess foam		2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</p:txBody>
      </p:sp>
      <p:sp>
        <p:nvSpPr>
          <p:cNvPr id="22" name="Rectangle 21"/>
          <p:cNvSpPr/>
          <p:nvPr/>
        </p:nvSpPr>
        <p:spPr>
          <a:xfrm>
            <a:off x="6272784" y="2490216"/>
            <a:ext cx="5532120" cy="2743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2532825"/>
            <a:ext cx="2609753" cy="170816"/>
          </a:xfrm>
          <a:prstGeom prst="rect">
            <a:avLst/>
          </a:prstGeom>
          <a:noFill/>
        </p:spPr>
        <p:txBody>
          <a:bodyPr wrap="none" lIns="18288" tIns="4572" rIns="18288" bIns="4572" anchor="ctr">
            <a:spAutoFit/>
          </a:bodyPr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ptos"/>
              </a:rPr>
              <a:t>Engineering Proposed Solution / Solutions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2764536"/>
            <a:ext cx="5477255" cy="2519172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9944" y="2901696"/>
            <a:ext cx="5257800" cy="710964"/>
          </a:xfrm>
          <a:prstGeom prst="rect">
            <a:avLst/>
          </a:prstGeom>
          <a:noFill/>
        </p:spPr>
        <p:txBody>
          <a:bodyPr wrap="square" lIns="18288" tIns="18288" rIns="18288" anchor="t">
            <a:spAutoFit/>
          </a:bodyPr>
          <a:lstStyle/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	</a:t>
            </a:r>
            <a:r>
              <a:rPr lang="en-US" sz="1050" b="1" dirty="0"/>
              <a:t>RESOLUTION			TIMELINE</a:t>
            </a:r>
          </a:p>
          <a:p>
            <a:pPr>
              <a:defRPr sz="930">
                <a:solidFill>
                  <a:srgbClr val="202020"/>
                </a:solidFill>
                <a:latin typeface="Aptos"/>
              </a:defRPr>
            </a:pP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Low expansion foam implementation		7/17/2026</a:t>
            </a:r>
          </a:p>
          <a:p>
            <a:pPr marL="171450" indent="-171450">
              <a:buFont typeface="Arial" panose="020B0604020202020204" pitchFamily="34" charset="0"/>
              <a:buChar char="•"/>
              <a:defRPr sz="930">
                <a:solidFill>
                  <a:srgbClr val="202020"/>
                </a:solidFill>
                <a:latin typeface="Aptos"/>
              </a:defRPr>
            </a:pPr>
            <a:r>
              <a:rPr lang="en-US" sz="1050" dirty="0"/>
              <a:t>Plastic drain tube cover (Investigating)		7/31/2026</a:t>
            </a:r>
          </a:p>
        </p:txBody>
      </p:sp>
    </p:spTree>
    <p:extLst>
      <p:ext uri="{BB962C8B-B14F-4D97-AF65-F5344CB8AC3E}">
        <p14:creationId xmlns:p14="http://schemas.microsoft.com/office/powerpoint/2010/main" val="274755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1267</Words>
  <Application>Microsoft Office PowerPoint</Application>
  <PresentationFormat>Widescreen</PresentationFormat>
  <Paragraphs>458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Hussmann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VAVE Activity Summary - Exact Headlines v2</dc:title>
  <dc:subject>VAVE-DG 2.0</dc:subject>
  <dc:creator>Vennu, Sunil</dc:creator>
  <cp:lastModifiedBy>Vennu, Sunil</cp:lastModifiedBy>
  <cp:revision>2</cp:revision>
  <dcterms:created xsi:type="dcterms:W3CDTF">2026-07-10T05:01:15Z</dcterms:created>
  <dcterms:modified xsi:type="dcterms:W3CDTF">2026-07-10T06:12:16Z</dcterms:modified>
</cp:coreProperties>
</file>