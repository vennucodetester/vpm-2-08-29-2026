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0e1b88a184f36" /><Relationship Type="http://schemas.openxmlformats.org/officeDocument/2006/relationships/extended-properties" Target="/docProps/app.xml" Id="R42706acbd90146dd" /><Relationship Type="http://schemas.openxmlformats.org/officeDocument/2006/relationships/officeDocument" Target="/ppt/presentation.xml" Id="R2cb9b485b0a8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43603ba8e4e2f"/>
  </p:sldMasterIdLst>
  <p:notesMasterIdLst>
    <p:notesMasterId xmlns:r="http://schemas.openxmlformats.org/officeDocument/2006/relationships" r:id="R0f5d67ad46ff40e6"/>
  </p:notesMasterIdLst>
  <p:sldIdLst>
    <p:sldId xmlns:r="http://schemas.openxmlformats.org/officeDocument/2006/relationships" id="256" r:id="R9a54a2fbca0e4621"/>
    <p:sldId xmlns:r="http://schemas.openxmlformats.org/officeDocument/2006/relationships" id="257" r:id="Rfcfc2d507e15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7a21fbd1942c4" /><Relationship Type="http://schemas.openxmlformats.org/officeDocument/2006/relationships/slideMaster" Target="/ppt/slideMasters/slideMaster1.xml" Id="R81143603ba8e4e2f" /><Relationship Type="http://schemas.openxmlformats.org/officeDocument/2006/relationships/notesMaster" Target="/ppt/notesMasters/notesMaster1.xml" Id="R0f5d67ad46ff40e6" /><Relationship Type="http://schemas.openxmlformats.org/officeDocument/2006/relationships/presProps" Target="/ppt/presProps.xml" Id="Rfff7d586b1114352" /><Relationship Type="http://schemas.openxmlformats.org/officeDocument/2006/relationships/viewProps" Target="/ppt/viewProps.xml" Id="Rbaa996c2ee3b40e7" /><Relationship Type="http://schemas.openxmlformats.org/officeDocument/2006/relationships/tableStyles" Target="/ppt/tableStyles.xml" Id="R23f7e4680f5945ab" /><Relationship Type="http://schemas.openxmlformats.org/officeDocument/2006/relationships/slide" Target="/ppt/slides/slide1.xml" Id="R9a54a2fbca0e4621" /><Relationship Type="http://schemas.openxmlformats.org/officeDocument/2006/relationships/slide" Target="/ppt/slides/slide2.xml" Id="Rfcfc2d507e15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02ef51be0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b952eb6104f67" /><Relationship Type="http://schemas.openxmlformats.org/officeDocument/2006/relationships/notesMaster" Target="/ppt/notesMasters/notesMaster1.xml" Id="R9fdb5875fa9a45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1dfcbe9164174" /><Relationship Type="http://schemas.openxmlformats.org/officeDocument/2006/relationships/notesMaster" Target="/ppt/notesMasters/notesMaster1.xml" Id="R29cdf30c1bf74a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VAVE-Slide-Input.xlsx; sheet: VAVE Data; section: Cassette VAVE activities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VAVE-Slide-Input.xlsx; sheet: VAVE Data; section: Case VAVE activities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8c488536d4e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675ef2c134be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DA40437-616C-4B67-A71C-4CFD5C2A39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7/10/2026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39CEBAB-B439-4691-826D-E02B0AD42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C541E97-D0E9-43A8-B6FA-9946B15552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84cf60b2ca4846" /><Relationship Type="http://schemas.openxmlformats.org/officeDocument/2006/relationships/slideLayout" Target="/ppt/slideLayouts/slideLayout1.xml" Id="R80f2987931d04a3e" /><Relationship Type="http://schemas.openxmlformats.org/officeDocument/2006/relationships/slideLayout" Target="/ppt/slideLayouts/slideLayout2.xml" Id="Rf5db6b8235ca45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f2987931d04a3e"/>
    <p:sldLayoutId xmlns:r="http://schemas.openxmlformats.org/officeDocument/2006/relationships" id="2147483650" r:id="Rf5db6b8235ca453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3c1983b2f428c" /><Relationship Type="http://schemas.openxmlformats.org/officeDocument/2006/relationships/notesSlide" Target="/ppt/notesSlides/notesSlide1.xml" Id="R9b968e04df5f4b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c0045923483d" /><Relationship Type="http://schemas.openxmlformats.org/officeDocument/2006/relationships/notesSlide" Target="/ppt/notesSlides/notesSlide2.xml" Id="Re2fe48c5499042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9ACC8F-9CA7-4AC4-9F23-E074ABCA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5C7C12-7896-4E34-B169-ED89CA6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Cassette VAVE activities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23528D-3FDB-43D3-A55B-8DBF031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624941-14AE-457B-A633-73B4FE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8327"/>
            <a:ext cx="1738425" cy="1938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 savings opportunities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D5209A-53C3-4868-B8BC-50BF92A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$268.20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F1FD03-0C86-4327-A42D-503B2BF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D4BDBA-26BA-4D15-92B4-53D335F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01B249-CCFD-4644-90FC-D764F75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61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172212E-F5C0-4A0A-BB19-F960E11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711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01440E-DB0B-4B81-A981-1EA7042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18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1B47AC-06AA-4EB5-A177-799851FF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39A9C7-D72E-4D53-BF52-4A4579D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94712"/>
            <a:ext cx="12311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CAP Tube testing - MT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B50D52-A2F7-44E5-B4EC-E5CCED7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202156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$28.00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42FF68-2BB1-4128-A314-8FBDE56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202156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9/11/2026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0337626-B2F2-4B9F-AD2B-18C37E44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A751BA9-B27F-4A6D-BB71-30F0F80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02AA9B-2FD9-484A-8BBE-DCD7F24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FAB1EE-4294-45B1-BFA7-2FC0750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2224"/>
            <a:ext cx="117987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Check valve removal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02A8F77-47E5-4D1B-97B1-A35C6F49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2689072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$5.00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A6CE8D-36F9-4F69-96B9-6B3B78A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8/14/2026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43BD10E-A46A-4FBB-8F05-FB12F00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7E920EF-C4C3-465E-BDC2-1532217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88" y="2684500"/>
            <a:ext cx="70538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B621F92-F482-4B95-B841-D9FEB7B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D1E681-560D-4440-936B-534A283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29736"/>
            <a:ext cx="251036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- 1 (Removing parts/clamps from design)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43D701D-E6AC-4CEC-B33A-53ABE48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263" y="3356584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$7.50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6CAD696-F691-41D3-A967-5E4D0DC7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3356584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8/3/2026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F771137-6F91-461B-83A9-57C3749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16EE97C-3AE6-4353-A7E8-89ED0011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901" y="3352012"/>
            <a:ext cx="69095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1A1E86E-02AB-4A19-A753-F666363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09D2D58-E815-451C-88B1-C0D9CD0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20304"/>
            <a:ext cx="2414187" cy="317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S/m - 2 (Control box redesign, 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</a:t>
            </a: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shroud,</a:t>
            </a:r>
          </a:p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 compress base, cond. shroud)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296F264-219A-400A-BD6C-F22A158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$25.00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582A80F-F6A8-4183-8901-E68043A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10/21/2026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CE43CBC-76E8-4F66-BD17-6D9C57A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0E9E66-321E-4090-9244-1CBF4CDF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6CC113-D710-4DB9-B50D-94895BE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3A8F3CC-740B-4352-A533-F6803D1F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764760"/>
            <a:ext cx="2758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enclosure for 2.0 (Molded foam/ Sm/ gasket)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B6A305-ADB7-47AB-BC84-8A8BE68B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$20.00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E60127C-CA66-4A04-BB7E-11398B1C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55" y="4691608"/>
            <a:ext cx="67492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10/30/2026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7037022-FD4D-4517-903D-367543E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1D05615-695E-42B9-ADEB-EBE7592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4687036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2904A170-4D9D-42C4-A7F7-A7D9047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0293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DA463D6-3AF5-44C3-99D0-5960135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32272"/>
            <a:ext cx="83683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Aluminum coil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A0C5791-D303-4E8E-8EB8-1503768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535912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$40.00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590AC91-ABF1-44A8-B317-1CC4E53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84" y="5359120"/>
            <a:ext cx="5370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2/12/2027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2BBE9836-113B-4915-8DB3-C4C741B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534009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B4D1378-BC0B-4263-A891-B6836E6D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535454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387D8B89-F686-421E-B575-79614FAE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7044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9F3898C3-91D1-4A80-8517-D740FE0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099784"/>
            <a:ext cx="140910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Cheaper Carel controller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B5963DCD-4193-4D69-AFC0-45EA0DD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335" y="602663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$15.00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7984FA9-54F0-4BD9-9693-E15A185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0" y="602663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9/7/2026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F7413198-BD96-462E-BA08-14E98B3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0" y="600760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58A10F8-A7C8-44A4-B45C-EB98B62F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702" y="602206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DA0642D8-B542-43FF-9A04-69AC622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08760"/>
            <a:ext cx="5532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656BA7B-152B-44DE-B3E7-B92BAAE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41499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BBB7264-7FD5-410B-A67E-C3E19D7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332" y="1541499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13116DE6-6CC0-4E7E-851A-841928A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5432" y="1541499"/>
            <a:ext cx="2597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F21CBF41-2B58-4A41-A4A9-42E8F9E9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903" y="1541499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B3CA1FE7-3B4D-4596-B587-7BC7552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6537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B3660ADC-DFC8-48F0-BC82-1795AFE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94712"/>
            <a:ext cx="957057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Tube on drip tray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65AD8FD-9B76-4BA9-99FB-9663F23B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83" y="2021560"/>
            <a:ext cx="351123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D22FBEC1-15DB-410F-854F-6D0FCCC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02156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7/30/2026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7305B2CF-B7E3-40E7-A2A5-73ED014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00253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9972CAA-88A8-4E7E-96E1-A6BE889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016988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4FF469F7-2A87-4235-80C4-73B0A81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3288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27D19985-3C94-41D9-BC8D-62F24AE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762224"/>
            <a:ext cx="8945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D3F00B53-5BBC-4783-9A16-71ACDFC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2689072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$20.00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85D7212E-99DB-49EF-8B44-BEF8A85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2689072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10/5/2026</a:t>
            </a:r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140EB830-F344-48F9-95B6-6CF395A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2670048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5E95B0AD-0B3A-4DD7-9B0D-486EA85C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2684500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12E9407A-5F16-4849-A26D-2C0D2BC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00400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CD53E24-40D0-4C24-95A0-0256F81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429736"/>
            <a:ext cx="155177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Evap/ Condenser fan - 3 qty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A0F6F07D-99E1-453F-B933-6D02799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3356584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$42.00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69BF7F2-011B-40D0-B94F-997259B5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3356584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9/18/2026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1DA9E4BC-83D6-48AB-ACC4-469294B5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3337560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7806EF5-3960-4DFE-9924-C296D2F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3352012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0EB1DD3-EE81-43EA-B459-EB0BEF3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67912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3CA1BB1B-F033-4463-B6CC-FBB79CA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097248"/>
            <a:ext cx="144757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Pallet - CArdboard design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1B66CC6-BF82-48C2-ABE2-8C68104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024096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$15.00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B20544AC-96C6-4A8C-8CCF-16A621B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024096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10/12/2026</a:t>
            </a:r>
          </a:p>
        </p:txBody>
      </p:sp>
      <p:sp>
        <p:nvSpPr>
          <p:cNvPr id="83" name="Rounded Rectangle 82">
            <a:extLst xmlns:a="http://schemas.openxmlformats.org/drawingml/2006/main">
              <a:ext uri="{FF2B5EF4-FFF2-40B4-BE49-F238E27FC236}">
                <a16:creationId xmlns:a16="http://schemas.microsoft.com/office/drawing/2014/main" id="{99158F97-F7E6-48DA-91C7-09E741F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005072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83E2A428-A006-4D83-A6B3-3D4011E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22" y="4019524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0A7BF2DE-72BB-451A-8395-DDE0E2F9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35424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3F678ED5-1B55-42E5-AC98-6979209D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764760"/>
            <a:ext cx="57394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New HP Switch- Danfoss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3D9CE3-6BE9-455A-A8FE-2C3A981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4691608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$7.00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3B2B4085-0517-4AD3-8CD0-9DD21BC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4691608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10/19/2026</a:t>
            </a:r>
          </a:p>
        </p:txBody>
      </p:sp>
      <p:sp>
        <p:nvSpPr>
          <p:cNvPr id="89" name="Rounded Rectangle 88">
            <a:extLst xmlns:a="http://schemas.openxmlformats.org/drawingml/2006/main">
              <a:ext uri="{FF2B5EF4-FFF2-40B4-BE49-F238E27FC236}">
                <a16:creationId xmlns:a16="http://schemas.microsoft.com/office/drawing/2014/main" id="{D502E9AD-319E-4BFF-AC3F-ADD2A74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4672584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B5DA51EC-F950-451C-93A9-04A5250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94" y="4687036"/>
            <a:ext cx="61241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Started</a:t>
            </a:r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0DF6237E-F613-4792-9C9A-FCCD1497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202936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BF430143-3C61-4896-9494-ABF6958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5432272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MT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1189A05C-0D36-45A3-B41F-A50E2BC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055" y="5359120"/>
            <a:ext cx="420051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$43.70</a:t>
            </a: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3DF65F50-A6F5-4B43-BA02-317493C9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741" y="5359120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95" name="Rounded Rectangle 94">
            <a:extLst xmlns:a="http://schemas.openxmlformats.org/drawingml/2006/main">
              <a:ext uri="{FF2B5EF4-FFF2-40B4-BE49-F238E27FC236}">
                <a16:creationId xmlns:a16="http://schemas.microsoft.com/office/drawing/2014/main" id="{3BDD55DB-80CA-4712-AC44-4F3311C3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20" y="5340096"/>
            <a:ext cx="8229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84CC21C4-EC75-450D-AA03-152A354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894" y="5354548"/>
            <a:ext cx="61241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97" name="Generated Right Row 7">
            <a:extLst xmlns:a="http://schemas.openxmlformats.org/drawingml/2006/main">
              <a:ext uri="{FF2B5EF4-FFF2-40B4-BE49-F238E27FC236}">
                <a16:creationId xmlns:a16="http://schemas.microsoft.com/office/drawing/2014/main" id="{E3755E44-F963-49A8-B09C-500B826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870448"/>
            <a:ext cx="553212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 w="0">
            <a:solidFill>
              <a:srgbClr val="F2F5FA"/>
            </a:solidFill>
            <a:prstDash val="solid"/>
          </a:ln>
        </p:spPr>
      </p:sp>
      <p:sp>
        <p:nvSpPr>
          <p:cNvPr id="98" name="Generated Right Task 7">
            <a:extLst xmlns:a="http://schemas.openxmlformats.org/drawingml/2006/main">
              <a:ext uri="{FF2B5EF4-FFF2-40B4-BE49-F238E27FC236}">
                <a16:creationId xmlns:a16="http://schemas.microsoft.com/office/drawing/2014/main" id="{F0B9547B-4769-446E-BB5D-057C89F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6020753"/>
            <a:ext cx="30099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4763" rIns="19050" bIns="4763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000" b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Tariff - LT</a:t>
            </a:r>
          </a:p>
        </p:txBody>
      </p:sp>
      <p:sp>
        <p:nvSpPr>
          <p:cNvPr id="99" name="Generated Right Savings 7">
            <a:extLst xmlns:a="http://schemas.openxmlformats.org/drawingml/2006/main">
              <a:ext uri="{FF2B5EF4-FFF2-40B4-BE49-F238E27FC236}">
                <a16:creationId xmlns:a16="http://schemas.microsoft.com/office/drawing/2014/main" id="{A1D84C52-0C23-40EE-B661-E04259F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26658"/>
            <a:ext cx="514350" cy="163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4763" rIns="19050" bIns="4763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/>
            <a:r>
              <a:rPr sz="10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$0.00</a:t>
            </a:r>
          </a:p>
        </p:txBody>
      </p:sp>
      <p:sp>
        <p:nvSpPr>
          <p:cNvPr id="100" name="Generated Right Date 7">
            <a:extLst xmlns:a="http://schemas.openxmlformats.org/drawingml/2006/main">
              <a:ext uri="{FF2B5EF4-FFF2-40B4-BE49-F238E27FC236}">
                <a16:creationId xmlns:a16="http://schemas.microsoft.com/office/drawing/2014/main" id="{3312E5B4-6779-4C5A-A20F-DC149C66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026658"/>
            <a:ext cx="666750" cy="163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4763" rIns="19050" bIns="4763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 b="0">
                <a:solidFill>
                  <a:srgbClr val="202020"/>
                </a:solidFill>
                <a:latin typeface="Aptos"/>
                <a:ea typeface="Aptos"/>
                <a:cs typeface="Aptos"/>
              </a:rPr>
              <a:t>6/15/2026</a:t>
            </a:r>
          </a:p>
        </p:txBody>
      </p:sp>
      <p:sp>
        <p:nvSpPr>
          <p:cNvPr id="101" name="Generated Right Status Pill 7">
            <a:extLst xmlns:a="http://schemas.openxmlformats.org/drawingml/2006/main">
              <a:ext uri="{FF2B5EF4-FFF2-40B4-BE49-F238E27FC236}">
                <a16:creationId xmlns:a16="http://schemas.microsoft.com/office/drawing/2014/main" id="{817091E7-9AC0-4B4A-94C0-6C3B6C7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602" y="6007608"/>
            <a:ext cx="822960" cy="256032"/>
          </a:xfrm>
          <a:prstGeom xmlns:a="http://schemas.openxmlformats.org/drawingml/2006/main" prst="roundRect">
            <a:avLst>
              <a:gd name="adj" fmla="val 29762"/>
            </a:avLst>
          </a:prstGeom>
          <a:solidFill xmlns:a="http://schemas.openxmlformats.org/drawingml/2006/main">
            <a:srgbClr val="70AD47"/>
          </a:solidFill>
          <a:ln xmlns:a="http://schemas.openxmlformats.org/drawingml/2006/main" w="0">
            <a:solidFill>
              <a:srgbClr val="70AD47"/>
            </a:solidFill>
            <a:prstDash val="solid"/>
          </a:ln>
        </p:spPr>
      </p:sp>
      <p:sp>
        <p:nvSpPr>
          <p:cNvPr id="102" name="Generated Right Status 7">
            <a:extLst xmlns:a="http://schemas.openxmlformats.org/drawingml/2006/main">
              <a:ext uri="{FF2B5EF4-FFF2-40B4-BE49-F238E27FC236}">
                <a16:creationId xmlns:a16="http://schemas.microsoft.com/office/drawing/2014/main" id="{5E3F3761-097E-432D-B8A2-25433DC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022086"/>
            <a:ext cx="714375" cy="163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4763" rIns="19050" bIns="4763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1174098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86A387-A324-4084-9EFA-D60AA8B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9FE6C-757F-4EFC-8E6F-41F59EBC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"/>
            <a:ext cx="7406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Case VAVE activities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FDA67F6-DC73-4902-B988-214764E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1136599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59DE8-A2EA-4FE2-8878-44FDB83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96696"/>
            <a:ext cx="475488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savings opportunities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28B109-9AEA-4567-B5F1-1AC7EC4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96696"/>
            <a:ext cx="1737360" cy="1539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Total: $74.52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73DEBB-EE70-4133-AEB9-0CD5A02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81328"/>
            <a:ext cx="109728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7"/>
          </a:solidFill>
          <a:ln xmlns:a="http://schemas.openxmlformats.org/drawingml/2006/main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4BB7B2-7930-4453-AF0E-FFE5EDD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46072"/>
            <a:ext cx="67973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Task Name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C542C9-85BC-44E1-834E-CBE8799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666" y="1546071"/>
            <a:ext cx="485774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Savings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0712DE-F2A8-4486-B998-1146F88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472" y="1546071"/>
            <a:ext cx="56271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End Date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3E25A2-1EAF-43AE-9ECB-6F46679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715" y="1546071"/>
            <a:ext cx="41524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6FA104B-21E6-41BE-9041-762BC4C9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24D6C9-04CA-4686-9886-96155A0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30703"/>
            <a:ext cx="1027589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Plastic Deck Pans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7E61597-C0B2-48B3-BE4C-E836873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2030703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$26.65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7C6A13-91B2-44C6-B05C-03E3793A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2030703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9/2/2026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CC4FFA0-1BD8-4183-B5AA-887980A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11680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3BE4B1-BC19-4B81-9F53-651AEE0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03527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600172C-9875-42FD-B8F9-BB63370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05456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4CDB30-F5E9-41DE-BC71-CB2B290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15919"/>
            <a:ext cx="10067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Raceway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CDE888-BB22-4A86-BDDD-FCE396F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2615919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$3.07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0BB2AA-E486-4E19-8CED-3DF2C90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2615919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7B8DC15-7E62-41A4-8CE5-E65E04E8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596896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474610-AE4B-4A95-9F48-6369124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2620491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DC71916-D8FB-498C-9EEF-F75CECC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0672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581B629-C507-4D2D-84D8-C2E31E4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201135"/>
            <a:ext cx="97469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Case power cord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92D93E1-32D8-4091-B25A-F991F38A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3201135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$5.50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AA46DF7-7517-4FBA-BF3F-215F7DF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3201135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9/1/2026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5B0072C-A7C8-4225-9E9C-E484AA5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182112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168D431-7D1E-44A3-BCC4-340D807C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205707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D7AB294-6514-497E-82C5-AA4E4A4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90090C5-578D-419F-92B6-6C46A7F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86351"/>
            <a:ext cx="886525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10Amp Breaker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578D2B8-F4CD-41D9-A0E1-0543AD53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390" y="3786351"/>
            <a:ext cx="42005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$32.50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C78ECDC-1490-408F-AC8C-25977A4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831" y="3786351"/>
            <a:ext cx="60600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8/11/2026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FF436290-B638-4BC7-9F84-3DC8075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767328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E18C457-982A-4B28-8664-EFA3DFE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3790923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93DD665-D103-4A2A-8258-4B75E3FD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61104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>
            <a:solidFill>
              <a:srgbClr val="F2F5F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2460CAA-1F78-4E9C-A3BA-5CFE8E1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371567"/>
            <a:ext cx="161428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Simplify Under Door Support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3AA0CFB-DBA6-4223-B8FA-6121CB9D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371567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$1.50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87639473-FA3F-4CA5-93D7-4428728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371567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57A660C1-1988-4D0F-8DA3-61D73DC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352544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E40A410-7C0F-4F43-8F48-907D8DA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376139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D5F32A5-298E-462C-8887-83340942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46320"/>
            <a:ext cx="109728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8AEA60A-CD0E-44BD-9B8F-354EC0C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956783"/>
            <a:ext cx="2083968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Reduce Qty of Canopy Foam Backers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710AC1A-C494-4B2C-B816-234F180C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318" y="4956783"/>
            <a:ext cx="351122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$5.30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9B29746F-4B36-4492-942C-5561356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296" y="4956783"/>
            <a:ext cx="537070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202020"/>
                </a:solidFill>
                <a:latin typeface="Aptos"/>
                <a:ea typeface="Aptos"/>
                <a:cs typeface="Aptos"/>
              </a:rPr>
              <a:t>8/7/2026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C9A8FF15-9AF0-41D6-8ADC-F0A6D91B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937759"/>
            <a:ext cx="1417320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CEDB2D-0871-4389-B053-2100120D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230" y="4961355"/>
            <a:ext cx="689356" cy="1631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18288" tIns="4572" rIns="18288" bIns="457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8522699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2026-07-31T04:40:33.6100000Z</dcterms:created>
  <dcterms:modified xsi:type="dcterms:W3CDTF">2026-07-31T04:40:33.6100000Z</dcterms:modified>
</coreProperties>
</file>